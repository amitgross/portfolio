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notesMasterIdLst>
    <p:notesMasterId r:id="rId3"/>
  </p:notesMasterIdLst>
  <p:sldIdLst>
    <p:sldId id="256" r:id="rId2"/>
  </p:sldIdLst>
  <p:sldSz cx="30605413" cy="36002913"/>
  <p:notesSz cx="6858000" cy="9144000"/>
  <p:defaultTextStyle>
    <a:defPPr>
      <a:defRPr lang="he-IL"/>
    </a:defPPr>
    <a:lvl1pPr marL="0" algn="r" defTabSz="4526280" rtl="1" eaLnBrk="1" latinLnBrk="0" hangingPunct="1">
      <a:defRPr sz="8900" kern="1200">
        <a:solidFill>
          <a:schemeClr val="tx1"/>
        </a:solidFill>
        <a:latin typeface="+mn-lt"/>
        <a:ea typeface="+mn-ea"/>
        <a:cs typeface="+mn-cs"/>
      </a:defRPr>
    </a:lvl1pPr>
    <a:lvl2pPr marL="2263140" algn="r" defTabSz="4526280" rtl="1" eaLnBrk="1" latinLnBrk="0" hangingPunct="1">
      <a:defRPr sz="8900" kern="1200">
        <a:solidFill>
          <a:schemeClr val="tx1"/>
        </a:solidFill>
        <a:latin typeface="+mn-lt"/>
        <a:ea typeface="+mn-ea"/>
        <a:cs typeface="+mn-cs"/>
      </a:defRPr>
    </a:lvl2pPr>
    <a:lvl3pPr marL="4526280" algn="r" defTabSz="4526280" rtl="1" eaLnBrk="1" latinLnBrk="0" hangingPunct="1">
      <a:defRPr sz="8900" kern="1200">
        <a:solidFill>
          <a:schemeClr val="tx1"/>
        </a:solidFill>
        <a:latin typeface="+mn-lt"/>
        <a:ea typeface="+mn-ea"/>
        <a:cs typeface="+mn-cs"/>
      </a:defRPr>
    </a:lvl3pPr>
    <a:lvl4pPr marL="6789420" algn="r" defTabSz="4526280" rtl="1" eaLnBrk="1" latinLnBrk="0" hangingPunct="1">
      <a:defRPr sz="8900" kern="1200">
        <a:solidFill>
          <a:schemeClr val="tx1"/>
        </a:solidFill>
        <a:latin typeface="+mn-lt"/>
        <a:ea typeface="+mn-ea"/>
        <a:cs typeface="+mn-cs"/>
      </a:defRPr>
    </a:lvl4pPr>
    <a:lvl5pPr marL="9052560" algn="r" defTabSz="4526280" rtl="1" eaLnBrk="1" latinLnBrk="0" hangingPunct="1">
      <a:defRPr sz="8900" kern="1200">
        <a:solidFill>
          <a:schemeClr val="tx1"/>
        </a:solidFill>
        <a:latin typeface="+mn-lt"/>
        <a:ea typeface="+mn-ea"/>
        <a:cs typeface="+mn-cs"/>
      </a:defRPr>
    </a:lvl5pPr>
    <a:lvl6pPr marL="11315700" algn="r" defTabSz="4526280" rtl="1" eaLnBrk="1" latinLnBrk="0" hangingPunct="1">
      <a:defRPr sz="8900" kern="1200">
        <a:solidFill>
          <a:schemeClr val="tx1"/>
        </a:solidFill>
        <a:latin typeface="+mn-lt"/>
        <a:ea typeface="+mn-ea"/>
        <a:cs typeface="+mn-cs"/>
      </a:defRPr>
    </a:lvl6pPr>
    <a:lvl7pPr marL="13578840" algn="r" defTabSz="4526280" rtl="1" eaLnBrk="1" latinLnBrk="0" hangingPunct="1">
      <a:defRPr sz="8900" kern="1200">
        <a:solidFill>
          <a:schemeClr val="tx1"/>
        </a:solidFill>
        <a:latin typeface="+mn-lt"/>
        <a:ea typeface="+mn-ea"/>
        <a:cs typeface="+mn-cs"/>
      </a:defRPr>
    </a:lvl7pPr>
    <a:lvl8pPr marL="15841980" algn="r" defTabSz="4526280" rtl="1" eaLnBrk="1" latinLnBrk="0" hangingPunct="1">
      <a:defRPr sz="8900" kern="1200">
        <a:solidFill>
          <a:schemeClr val="tx1"/>
        </a:solidFill>
        <a:latin typeface="+mn-lt"/>
        <a:ea typeface="+mn-ea"/>
        <a:cs typeface="+mn-cs"/>
      </a:defRPr>
    </a:lvl8pPr>
    <a:lvl9pPr marL="18105120" algn="r" defTabSz="4526280" rtl="1" eaLnBrk="1" latinLnBrk="0" hangingPunct="1">
      <a:defRPr sz="89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340" userDrawn="1">
          <p15:clr>
            <a:srgbClr val="A4A3A4"/>
          </p15:clr>
        </p15:guide>
        <p15:guide id="2" pos="96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Dr. Inna Gaisler-Salomon" initials="DI" lastIdx="30" clrIdx="0"/>
  <p:cmAuthor id="7" name="אינה גייזלר-סלומון" initials="אג [6]" lastIdx="1" clrIdx="7">
    <p:extLst/>
  </p:cmAuthor>
  <p:cmAuthor id="1" name="Sharon Lander" initials="SL" lastIdx="1" clrIdx="1"/>
  <p:cmAuthor id="8" name="אינה גייזלר-סלומון" initials="אג [7]" lastIdx="1" clrIdx="8">
    <p:extLst/>
  </p:cmAuthor>
  <p:cmAuthor id="2" name="אינה גייזלר-סלומון" initials="אג" lastIdx="2" clrIdx="2">
    <p:extLst/>
  </p:cmAuthor>
  <p:cmAuthor id="9" name="Inna Gaisler-Salomon" initials="IGS" lastIdx="1" clrIdx="9"/>
  <p:cmAuthor id="3" name="אינה גייזלר-סלומון" initials="אג [2]" lastIdx="1" clrIdx="3">
    <p:extLst/>
  </p:cmAuthor>
  <p:cmAuthor id="10" name="amit" initials="a" lastIdx="6" clrIdx="10">
    <p:extLst/>
  </p:cmAuthor>
  <p:cmAuthor id="4" name="אינה גייזלר-סלומון" initials="אג [3]" lastIdx="1" clrIdx="4">
    <p:extLst/>
  </p:cmAuthor>
  <p:cmAuthor id="5" name="אינה גייזלר-סלומון" initials="אג [4]" lastIdx="1" clrIdx="5">
    <p:extLst/>
  </p:cmAuthor>
  <p:cmAuthor id="6" name="אינה גייזלר-סלומון" initials="אג [5]" lastIdx="1" clrIdx="6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6699"/>
    <a:srgbClr val="3A54F0"/>
    <a:srgbClr val="3366FF"/>
    <a:srgbClr val="FF66FF"/>
    <a:srgbClr val="99FFCC"/>
    <a:srgbClr val="99CCFF"/>
    <a:srgbClr val="9999FF"/>
    <a:srgbClr val="00FF00"/>
    <a:srgbClr val="00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93235" autoAdjust="0"/>
    <p:restoredTop sz="93918" autoAdjust="0"/>
  </p:normalViewPr>
  <p:slideViewPr>
    <p:cSldViewPr>
      <p:cViewPr>
        <p:scale>
          <a:sx n="50" d="100"/>
          <a:sy n="50" d="100"/>
        </p:scale>
        <p:origin x="-348" y="-8358"/>
      </p:cViewPr>
      <p:guideLst>
        <p:guide orient="horz" pos="11340"/>
        <p:guide pos="96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54AA5CF2-003B-479E-B59D-D7BAD41C5CA6}" type="datetimeFigureOut">
              <a:rPr lang="he-IL" smtClean="0"/>
              <a:t>ט"ו/אדר/תשע"ח</a:t>
            </a:fld>
            <a:endParaRPr lang="he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1971675" y="685800"/>
            <a:ext cx="29146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he-IL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C11606B0-D532-438A-B55A-30FC557ECA1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33079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4526280" rtl="1" eaLnBrk="1" latinLnBrk="0" hangingPunct="1">
      <a:defRPr sz="5900" kern="1200">
        <a:solidFill>
          <a:schemeClr val="tx1"/>
        </a:solidFill>
        <a:latin typeface="+mn-lt"/>
        <a:ea typeface="+mn-ea"/>
        <a:cs typeface="+mn-cs"/>
      </a:defRPr>
    </a:lvl1pPr>
    <a:lvl2pPr marL="2263140" algn="r" defTabSz="4526280" rtl="1" eaLnBrk="1" latinLnBrk="0" hangingPunct="1">
      <a:defRPr sz="5900" kern="1200">
        <a:solidFill>
          <a:schemeClr val="tx1"/>
        </a:solidFill>
        <a:latin typeface="+mn-lt"/>
        <a:ea typeface="+mn-ea"/>
        <a:cs typeface="+mn-cs"/>
      </a:defRPr>
    </a:lvl2pPr>
    <a:lvl3pPr marL="4526280" algn="r" defTabSz="4526280" rtl="1" eaLnBrk="1" latinLnBrk="0" hangingPunct="1">
      <a:defRPr sz="5900" kern="1200">
        <a:solidFill>
          <a:schemeClr val="tx1"/>
        </a:solidFill>
        <a:latin typeface="+mn-lt"/>
        <a:ea typeface="+mn-ea"/>
        <a:cs typeface="+mn-cs"/>
      </a:defRPr>
    </a:lvl3pPr>
    <a:lvl4pPr marL="6789420" algn="r" defTabSz="4526280" rtl="1" eaLnBrk="1" latinLnBrk="0" hangingPunct="1">
      <a:defRPr sz="5900" kern="1200">
        <a:solidFill>
          <a:schemeClr val="tx1"/>
        </a:solidFill>
        <a:latin typeface="+mn-lt"/>
        <a:ea typeface="+mn-ea"/>
        <a:cs typeface="+mn-cs"/>
      </a:defRPr>
    </a:lvl4pPr>
    <a:lvl5pPr marL="9052560" algn="r" defTabSz="4526280" rtl="1" eaLnBrk="1" latinLnBrk="0" hangingPunct="1">
      <a:defRPr sz="5900" kern="1200">
        <a:solidFill>
          <a:schemeClr val="tx1"/>
        </a:solidFill>
        <a:latin typeface="+mn-lt"/>
        <a:ea typeface="+mn-ea"/>
        <a:cs typeface="+mn-cs"/>
      </a:defRPr>
    </a:lvl5pPr>
    <a:lvl6pPr marL="11315700" algn="r" defTabSz="4526280" rtl="1" eaLnBrk="1" latinLnBrk="0" hangingPunct="1">
      <a:defRPr sz="5900" kern="1200">
        <a:solidFill>
          <a:schemeClr val="tx1"/>
        </a:solidFill>
        <a:latin typeface="+mn-lt"/>
        <a:ea typeface="+mn-ea"/>
        <a:cs typeface="+mn-cs"/>
      </a:defRPr>
    </a:lvl6pPr>
    <a:lvl7pPr marL="13578840" algn="r" defTabSz="4526280" rtl="1" eaLnBrk="1" latinLnBrk="0" hangingPunct="1">
      <a:defRPr sz="5900" kern="1200">
        <a:solidFill>
          <a:schemeClr val="tx1"/>
        </a:solidFill>
        <a:latin typeface="+mn-lt"/>
        <a:ea typeface="+mn-ea"/>
        <a:cs typeface="+mn-cs"/>
      </a:defRPr>
    </a:lvl7pPr>
    <a:lvl8pPr marL="15841980" algn="r" defTabSz="4526280" rtl="1" eaLnBrk="1" latinLnBrk="0" hangingPunct="1">
      <a:defRPr sz="5900" kern="1200">
        <a:solidFill>
          <a:schemeClr val="tx1"/>
        </a:solidFill>
        <a:latin typeface="+mn-lt"/>
        <a:ea typeface="+mn-ea"/>
        <a:cs typeface="+mn-cs"/>
      </a:defRPr>
    </a:lvl8pPr>
    <a:lvl9pPr marL="18105120" algn="r" defTabSz="4526280" rtl="1" eaLnBrk="1" latinLnBrk="0" hangingPunct="1">
      <a:defRPr sz="5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1971675" y="685800"/>
            <a:ext cx="2914650" cy="342900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1606B0-D532-438A-B55A-30FC557ECA18}" type="slidenum">
              <a:rPr lang="he-IL" smtClean="0"/>
              <a:t>1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260209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2295417" y="11184244"/>
            <a:ext cx="26014602" cy="7717291"/>
          </a:xfrm>
        </p:spPr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>
          <a:xfrm>
            <a:off x="4590826" y="20401659"/>
            <a:ext cx="21423789" cy="920074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18516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37033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55550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74067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92584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11101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29618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48135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e-IL" smtClean="0"/>
              <a:t>לחץ כדי לערוך סגנון כותרת משנה של תבנית בסיס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3B1A7-07EE-4F91-997C-EC62FE25F478}" type="datetimeFigureOut">
              <a:rPr lang="he-IL" smtClean="0"/>
              <a:t>ט"ו/אדר/תשע"ח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89A80-9763-42E3-9F73-129A9B15BA9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5210107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3B1A7-07EE-4F91-997C-EC62FE25F478}" type="datetimeFigureOut">
              <a:rPr lang="he-IL" smtClean="0"/>
              <a:t>ט"ו/אדר/תשע"ח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89A80-9763-42E3-9F73-129A9B15BA9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28304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2417628" y="23135212"/>
            <a:ext cx="26014602" cy="7150578"/>
          </a:xfrm>
        </p:spPr>
        <p:txBody>
          <a:bodyPr anchor="t"/>
          <a:lstStyle>
            <a:lvl1pPr algn="r">
              <a:defRPr sz="16199" b="1" cap="all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2417628" y="15259581"/>
            <a:ext cx="26014602" cy="7875635"/>
          </a:xfrm>
        </p:spPr>
        <p:txBody>
          <a:bodyPr anchor="b"/>
          <a:lstStyle>
            <a:lvl1pPr marL="0" indent="0">
              <a:buNone/>
              <a:defRPr sz="8099">
                <a:solidFill>
                  <a:schemeClr val="tx1">
                    <a:tint val="75000"/>
                  </a:schemeClr>
                </a:solidFill>
              </a:defRPr>
            </a:lvl1pPr>
            <a:lvl2pPr marL="1851691" indent="0">
              <a:buNone/>
              <a:defRPr sz="7282">
                <a:solidFill>
                  <a:schemeClr val="tx1">
                    <a:tint val="75000"/>
                  </a:schemeClr>
                </a:solidFill>
              </a:defRPr>
            </a:lvl2pPr>
            <a:lvl3pPr marL="3703379" indent="0">
              <a:buNone/>
              <a:defRPr sz="6464">
                <a:solidFill>
                  <a:schemeClr val="tx1">
                    <a:tint val="75000"/>
                  </a:schemeClr>
                </a:solidFill>
              </a:defRPr>
            </a:lvl3pPr>
            <a:lvl4pPr marL="5555070" indent="0">
              <a:buNone/>
              <a:defRPr sz="5646">
                <a:solidFill>
                  <a:schemeClr val="tx1">
                    <a:tint val="75000"/>
                  </a:schemeClr>
                </a:solidFill>
              </a:defRPr>
            </a:lvl4pPr>
            <a:lvl5pPr marL="7406756" indent="0">
              <a:buNone/>
              <a:defRPr sz="5646">
                <a:solidFill>
                  <a:schemeClr val="tx1">
                    <a:tint val="75000"/>
                  </a:schemeClr>
                </a:solidFill>
              </a:defRPr>
            </a:lvl5pPr>
            <a:lvl6pPr marL="9258447" indent="0">
              <a:buNone/>
              <a:defRPr sz="5646">
                <a:solidFill>
                  <a:schemeClr val="tx1">
                    <a:tint val="75000"/>
                  </a:schemeClr>
                </a:solidFill>
              </a:defRPr>
            </a:lvl6pPr>
            <a:lvl7pPr marL="11110137" indent="0">
              <a:buNone/>
              <a:defRPr sz="5646">
                <a:solidFill>
                  <a:schemeClr val="tx1">
                    <a:tint val="75000"/>
                  </a:schemeClr>
                </a:solidFill>
              </a:defRPr>
            </a:lvl7pPr>
            <a:lvl8pPr marL="12961826" indent="0">
              <a:buNone/>
              <a:defRPr sz="5646">
                <a:solidFill>
                  <a:schemeClr val="tx1">
                    <a:tint val="75000"/>
                  </a:schemeClr>
                </a:solidFill>
              </a:defRPr>
            </a:lvl8pPr>
            <a:lvl9pPr marL="14813517" indent="0">
              <a:buNone/>
              <a:defRPr sz="564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3B1A7-07EE-4F91-997C-EC62FE25F478}" type="datetimeFigureOut">
              <a:rPr lang="he-IL" smtClean="0"/>
              <a:t>ט"ו/אדר/תשע"ח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89A80-9763-42E3-9F73-129A9B15BA9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41463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תוכן 2"/>
          <p:cNvSpPr>
            <a:spLocks noGrp="1"/>
          </p:cNvSpPr>
          <p:nvPr>
            <p:ph sz="half" idx="1"/>
          </p:nvPr>
        </p:nvSpPr>
        <p:spPr>
          <a:xfrm>
            <a:off x="6625861" y="48512264"/>
            <a:ext cx="59398942" cy="137219434"/>
          </a:xfrm>
        </p:spPr>
        <p:txBody>
          <a:bodyPr/>
          <a:lstStyle>
            <a:lvl1pPr>
              <a:defRPr sz="11373"/>
            </a:lvl1pPr>
            <a:lvl2pPr>
              <a:defRPr sz="9736"/>
            </a:lvl2pPr>
            <a:lvl3pPr>
              <a:defRPr sz="8099"/>
            </a:lvl3pPr>
            <a:lvl4pPr>
              <a:defRPr sz="7282"/>
            </a:lvl4pPr>
            <a:lvl5pPr>
              <a:defRPr sz="7282"/>
            </a:lvl5pPr>
            <a:lvl6pPr>
              <a:defRPr sz="7282"/>
            </a:lvl6pPr>
            <a:lvl7pPr>
              <a:defRPr sz="7282"/>
            </a:lvl7pPr>
            <a:lvl8pPr>
              <a:defRPr sz="7282"/>
            </a:lvl8pPr>
            <a:lvl9pPr>
              <a:defRPr sz="7282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66534907" y="48512264"/>
            <a:ext cx="59398945" cy="137219434"/>
          </a:xfrm>
        </p:spPr>
        <p:txBody>
          <a:bodyPr/>
          <a:lstStyle>
            <a:lvl1pPr>
              <a:defRPr sz="11373"/>
            </a:lvl1pPr>
            <a:lvl2pPr>
              <a:defRPr sz="9736"/>
            </a:lvl2pPr>
            <a:lvl3pPr>
              <a:defRPr sz="8099"/>
            </a:lvl3pPr>
            <a:lvl4pPr>
              <a:defRPr sz="7282"/>
            </a:lvl4pPr>
            <a:lvl5pPr>
              <a:defRPr sz="7282"/>
            </a:lvl5pPr>
            <a:lvl6pPr>
              <a:defRPr sz="7282"/>
            </a:lvl6pPr>
            <a:lvl7pPr>
              <a:defRPr sz="7282"/>
            </a:lvl7pPr>
            <a:lvl8pPr>
              <a:defRPr sz="7282"/>
            </a:lvl8pPr>
            <a:lvl9pPr>
              <a:defRPr sz="7282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3B1A7-07EE-4F91-997C-EC62FE25F478}" type="datetimeFigureOut">
              <a:rPr lang="he-IL" smtClean="0"/>
              <a:t>ט"ו/אדר/תשע"ח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89A80-9763-42E3-9F73-129A9B15BA9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9555666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530272" y="1441791"/>
            <a:ext cx="27544872" cy="6000487"/>
          </a:xfrm>
        </p:spPr>
        <p:txBody>
          <a:bodyPr/>
          <a:lstStyle>
            <a:lvl1pPr>
              <a:defRPr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1530270" y="8058989"/>
            <a:ext cx="13522706" cy="3358603"/>
          </a:xfrm>
        </p:spPr>
        <p:txBody>
          <a:bodyPr anchor="b"/>
          <a:lstStyle>
            <a:lvl1pPr marL="0" indent="0">
              <a:buNone/>
              <a:defRPr sz="9736" b="1"/>
            </a:lvl1pPr>
            <a:lvl2pPr marL="1851691" indent="0">
              <a:buNone/>
              <a:defRPr sz="8099" b="1"/>
            </a:lvl2pPr>
            <a:lvl3pPr marL="3703379" indent="0">
              <a:buNone/>
              <a:defRPr sz="7282" b="1"/>
            </a:lvl3pPr>
            <a:lvl4pPr marL="5555070" indent="0">
              <a:buNone/>
              <a:defRPr sz="6464" b="1"/>
            </a:lvl4pPr>
            <a:lvl5pPr marL="7406756" indent="0">
              <a:buNone/>
              <a:defRPr sz="6464" b="1"/>
            </a:lvl5pPr>
            <a:lvl6pPr marL="9258447" indent="0">
              <a:buNone/>
              <a:defRPr sz="6464" b="1"/>
            </a:lvl6pPr>
            <a:lvl7pPr marL="11110137" indent="0">
              <a:buNone/>
              <a:defRPr sz="6464" b="1"/>
            </a:lvl7pPr>
            <a:lvl8pPr marL="12961826" indent="0">
              <a:buNone/>
              <a:defRPr sz="6464" b="1"/>
            </a:lvl8pPr>
            <a:lvl9pPr marL="14813517" indent="0">
              <a:buNone/>
              <a:defRPr sz="6464" b="1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1530270" y="11417590"/>
            <a:ext cx="13522706" cy="20743348"/>
          </a:xfrm>
        </p:spPr>
        <p:txBody>
          <a:bodyPr/>
          <a:lstStyle>
            <a:lvl1pPr>
              <a:defRPr sz="9736"/>
            </a:lvl1pPr>
            <a:lvl2pPr>
              <a:defRPr sz="8099"/>
            </a:lvl2pPr>
            <a:lvl3pPr>
              <a:defRPr sz="7282"/>
            </a:lvl3pPr>
            <a:lvl4pPr>
              <a:defRPr sz="6464"/>
            </a:lvl4pPr>
            <a:lvl5pPr>
              <a:defRPr sz="6464"/>
            </a:lvl5pPr>
            <a:lvl6pPr>
              <a:defRPr sz="6464"/>
            </a:lvl6pPr>
            <a:lvl7pPr>
              <a:defRPr sz="6464"/>
            </a:lvl7pPr>
            <a:lvl8pPr>
              <a:defRPr sz="6464"/>
            </a:lvl8pPr>
            <a:lvl9pPr>
              <a:defRPr sz="6464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5" name="מציין מיקום טקסט 4"/>
          <p:cNvSpPr>
            <a:spLocks noGrp="1"/>
          </p:cNvSpPr>
          <p:nvPr>
            <p:ph type="body" sz="quarter" idx="3"/>
          </p:nvPr>
        </p:nvSpPr>
        <p:spPr>
          <a:xfrm>
            <a:off x="15547127" y="8058989"/>
            <a:ext cx="13528018" cy="3358603"/>
          </a:xfrm>
        </p:spPr>
        <p:txBody>
          <a:bodyPr anchor="b"/>
          <a:lstStyle>
            <a:lvl1pPr marL="0" indent="0">
              <a:buNone/>
              <a:defRPr sz="9736" b="1"/>
            </a:lvl1pPr>
            <a:lvl2pPr marL="1851691" indent="0">
              <a:buNone/>
              <a:defRPr sz="8099" b="1"/>
            </a:lvl2pPr>
            <a:lvl3pPr marL="3703379" indent="0">
              <a:buNone/>
              <a:defRPr sz="7282" b="1"/>
            </a:lvl3pPr>
            <a:lvl4pPr marL="5555070" indent="0">
              <a:buNone/>
              <a:defRPr sz="6464" b="1"/>
            </a:lvl4pPr>
            <a:lvl5pPr marL="7406756" indent="0">
              <a:buNone/>
              <a:defRPr sz="6464" b="1"/>
            </a:lvl5pPr>
            <a:lvl6pPr marL="9258447" indent="0">
              <a:buNone/>
              <a:defRPr sz="6464" b="1"/>
            </a:lvl6pPr>
            <a:lvl7pPr marL="11110137" indent="0">
              <a:buNone/>
              <a:defRPr sz="6464" b="1"/>
            </a:lvl7pPr>
            <a:lvl8pPr marL="12961826" indent="0">
              <a:buNone/>
              <a:defRPr sz="6464" b="1"/>
            </a:lvl8pPr>
            <a:lvl9pPr marL="14813517" indent="0">
              <a:buNone/>
              <a:defRPr sz="6464" b="1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6" name="מציין מיקום תוכן 5"/>
          <p:cNvSpPr>
            <a:spLocks noGrp="1"/>
          </p:cNvSpPr>
          <p:nvPr>
            <p:ph sz="quarter" idx="4"/>
          </p:nvPr>
        </p:nvSpPr>
        <p:spPr>
          <a:xfrm>
            <a:off x="15547127" y="11417590"/>
            <a:ext cx="13528018" cy="20743348"/>
          </a:xfrm>
        </p:spPr>
        <p:txBody>
          <a:bodyPr/>
          <a:lstStyle>
            <a:lvl1pPr>
              <a:defRPr sz="9736"/>
            </a:lvl1pPr>
            <a:lvl2pPr>
              <a:defRPr sz="8099"/>
            </a:lvl2pPr>
            <a:lvl3pPr>
              <a:defRPr sz="7282"/>
            </a:lvl3pPr>
            <a:lvl4pPr>
              <a:defRPr sz="6464"/>
            </a:lvl4pPr>
            <a:lvl5pPr>
              <a:defRPr sz="6464"/>
            </a:lvl5pPr>
            <a:lvl6pPr>
              <a:defRPr sz="6464"/>
            </a:lvl6pPr>
            <a:lvl7pPr>
              <a:defRPr sz="6464"/>
            </a:lvl7pPr>
            <a:lvl8pPr>
              <a:defRPr sz="6464"/>
            </a:lvl8pPr>
            <a:lvl9pPr>
              <a:defRPr sz="6464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7" name="מציין מיקום של תאריך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3B1A7-07EE-4F91-997C-EC62FE25F478}" type="datetimeFigureOut">
              <a:rPr lang="he-IL" smtClean="0"/>
              <a:t>ט"ו/אדר/תשע"ח</a:t>
            </a:fld>
            <a:endParaRPr lang="he-IL"/>
          </a:p>
        </p:txBody>
      </p:sp>
      <p:sp>
        <p:nvSpPr>
          <p:cNvPr id="8" name="מציין מיקום של כותרת תחתונה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89A80-9763-42E3-9F73-129A9B15BA9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77007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3B1A7-07EE-4F91-997C-EC62FE25F478}" type="datetimeFigureOut">
              <a:rPr lang="he-IL" smtClean="0"/>
              <a:t>ט"ו/אדר/תשע"ח</a:t>
            </a:fld>
            <a:endParaRPr lang="he-IL"/>
          </a:p>
        </p:txBody>
      </p:sp>
      <p:sp>
        <p:nvSpPr>
          <p:cNvPr id="4" name="מציין מיקום של כותרת תחתונה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89A80-9763-42E3-9F73-129A9B15BA9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86988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3B1A7-07EE-4F91-997C-EC62FE25F478}" type="datetimeFigureOut">
              <a:rPr lang="he-IL" smtClean="0"/>
              <a:t>ט"ו/אדר/תשע"ח</a:t>
            </a:fld>
            <a:endParaRPr lang="he-IL"/>
          </a:p>
        </p:txBody>
      </p:sp>
      <p:sp>
        <p:nvSpPr>
          <p:cNvPr id="3" name="מציין מיקום של כותרת תחתונה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89A80-9763-42E3-9F73-129A9B15BA9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826007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530286" y="1433452"/>
            <a:ext cx="10068971" cy="6100494"/>
          </a:xfrm>
        </p:spPr>
        <p:txBody>
          <a:bodyPr anchor="b"/>
          <a:lstStyle>
            <a:lvl1pPr algn="r">
              <a:defRPr sz="8099" b="1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11965869" y="1433461"/>
            <a:ext cx="17109276" cy="30727489"/>
          </a:xfrm>
        </p:spPr>
        <p:txBody>
          <a:bodyPr/>
          <a:lstStyle>
            <a:lvl1pPr>
              <a:defRPr sz="12927"/>
            </a:lvl1pPr>
            <a:lvl2pPr>
              <a:defRPr sz="11373"/>
            </a:lvl2pPr>
            <a:lvl3pPr>
              <a:defRPr sz="9736"/>
            </a:lvl3pPr>
            <a:lvl4pPr>
              <a:defRPr sz="8099"/>
            </a:lvl4pPr>
            <a:lvl5pPr>
              <a:defRPr sz="8099"/>
            </a:lvl5pPr>
            <a:lvl6pPr>
              <a:defRPr sz="8099"/>
            </a:lvl6pPr>
            <a:lvl7pPr>
              <a:defRPr sz="8099"/>
            </a:lvl7pPr>
            <a:lvl8pPr>
              <a:defRPr sz="8099"/>
            </a:lvl8pPr>
            <a:lvl9pPr>
              <a:defRPr sz="8099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1530286" y="7533948"/>
            <a:ext cx="10068971" cy="24626996"/>
          </a:xfrm>
        </p:spPr>
        <p:txBody>
          <a:bodyPr/>
          <a:lstStyle>
            <a:lvl1pPr marL="0" indent="0">
              <a:buNone/>
              <a:defRPr sz="5646"/>
            </a:lvl1pPr>
            <a:lvl2pPr marL="1851691" indent="0">
              <a:buNone/>
              <a:defRPr sz="4827"/>
            </a:lvl2pPr>
            <a:lvl3pPr marL="3703379" indent="0">
              <a:buNone/>
              <a:defRPr sz="4092"/>
            </a:lvl3pPr>
            <a:lvl4pPr marL="5555070" indent="0">
              <a:buNone/>
              <a:defRPr sz="3681"/>
            </a:lvl4pPr>
            <a:lvl5pPr marL="7406756" indent="0">
              <a:buNone/>
              <a:defRPr sz="3681"/>
            </a:lvl5pPr>
            <a:lvl6pPr marL="9258447" indent="0">
              <a:buNone/>
              <a:defRPr sz="3681"/>
            </a:lvl6pPr>
            <a:lvl7pPr marL="11110137" indent="0">
              <a:buNone/>
              <a:defRPr sz="3681"/>
            </a:lvl7pPr>
            <a:lvl8pPr marL="12961826" indent="0">
              <a:buNone/>
              <a:defRPr sz="3681"/>
            </a:lvl8pPr>
            <a:lvl9pPr marL="14813517" indent="0">
              <a:buNone/>
              <a:defRPr sz="3681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3B1A7-07EE-4F91-997C-EC62FE25F478}" type="datetimeFigureOut">
              <a:rPr lang="he-IL" smtClean="0"/>
              <a:t>ט"ו/אדר/תשע"ח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89A80-9763-42E3-9F73-129A9B15BA9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764683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5998888" y="25202045"/>
            <a:ext cx="18363248" cy="2975243"/>
          </a:xfrm>
        </p:spPr>
        <p:txBody>
          <a:bodyPr anchor="b"/>
          <a:lstStyle>
            <a:lvl1pPr algn="r">
              <a:defRPr sz="8099" b="1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של תמונה 2"/>
          <p:cNvSpPr>
            <a:spLocks noGrp="1"/>
          </p:cNvSpPr>
          <p:nvPr>
            <p:ph type="pic" idx="1"/>
          </p:nvPr>
        </p:nvSpPr>
        <p:spPr>
          <a:xfrm>
            <a:off x="5998888" y="3216930"/>
            <a:ext cx="18363248" cy="21601748"/>
          </a:xfrm>
        </p:spPr>
        <p:txBody>
          <a:bodyPr/>
          <a:lstStyle>
            <a:lvl1pPr marL="0" indent="0">
              <a:buNone/>
              <a:defRPr sz="12927"/>
            </a:lvl1pPr>
            <a:lvl2pPr marL="1851691" indent="0">
              <a:buNone/>
              <a:defRPr sz="11373"/>
            </a:lvl2pPr>
            <a:lvl3pPr marL="3703379" indent="0">
              <a:buNone/>
              <a:defRPr sz="9736"/>
            </a:lvl3pPr>
            <a:lvl4pPr marL="5555070" indent="0">
              <a:buNone/>
              <a:defRPr sz="8099"/>
            </a:lvl4pPr>
            <a:lvl5pPr marL="7406756" indent="0">
              <a:buNone/>
              <a:defRPr sz="8099"/>
            </a:lvl5pPr>
            <a:lvl6pPr marL="9258447" indent="0">
              <a:buNone/>
              <a:defRPr sz="8099"/>
            </a:lvl6pPr>
            <a:lvl7pPr marL="11110137" indent="0">
              <a:buNone/>
              <a:defRPr sz="8099"/>
            </a:lvl7pPr>
            <a:lvl8pPr marL="12961826" indent="0">
              <a:buNone/>
              <a:defRPr sz="8099"/>
            </a:lvl8pPr>
            <a:lvl9pPr marL="14813517" indent="0">
              <a:buNone/>
              <a:defRPr sz="8099"/>
            </a:lvl9pPr>
          </a:lstStyle>
          <a:p>
            <a:endParaRPr lang="he-IL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5998888" y="28177287"/>
            <a:ext cx="18363248" cy="4225338"/>
          </a:xfrm>
        </p:spPr>
        <p:txBody>
          <a:bodyPr/>
          <a:lstStyle>
            <a:lvl1pPr marL="0" indent="0">
              <a:buNone/>
              <a:defRPr sz="5646"/>
            </a:lvl1pPr>
            <a:lvl2pPr marL="1851691" indent="0">
              <a:buNone/>
              <a:defRPr sz="4827"/>
            </a:lvl2pPr>
            <a:lvl3pPr marL="3703379" indent="0">
              <a:buNone/>
              <a:defRPr sz="4092"/>
            </a:lvl3pPr>
            <a:lvl4pPr marL="5555070" indent="0">
              <a:buNone/>
              <a:defRPr sz="3681"/>
            </a:lvl4pPr>
            <a:lvl5pPr marL="7406756" indent="0">
              <a:buNone/>
              <a:defRPr sz="3681"/>
            </a:lvl5pPr>
            <a:lvl6pPr marL="9258447" indent="0">
              <a:buNone/>
              <a:defRPr sz="3681"/>
            </a:lvl6pPr>
            <a:lvl7pPr marL="11110137" indent="0">
              <a:buNone/>
              <a:defRPr sz="3681"/>
            </a:lvl7pPr>
            <a:lvl8pPr marL="12961826" indent="0">
              <a:buNone/>
              <a:defRPr sz="3681"/>
            </a:lvl8pPr>
            <a:lvl9pPr marL="14813517" indent="0">
              <a:buNone/>
              <a:defRPr sz="3681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3B1A7-07EE-4F91-997C-EC62FE25F478}" type="datetimeFigureOut">
              <a:rPr lang="he-IL" smtClean="0"/>
              <a:t>ט"ו/אדר/תשע"ח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89A80-9763-42E3-9F73-129A9B15BA9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871878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3B1A7-07EE-4F91-997C-EC62FE25F478}" type="datetimeFigureOut">
              <a:rPr lang="he-IL" smtClean="0"/>
              <a:t>ט"ו/אדר/תשע"ח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89A80-9763-42E3-9F73-129A9B15BA9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4095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/>
          <p:cNvSpPr>
            <a:spLocks noGrp="1"/>
          </p:cNvSpPr>
          <p:nvPr>
            <p:ph type="title" orient="vert"/>
          </p:nvPr>
        </p:nvSpPr>
        <p:spPr>
          <a:xfrm>
            <a:off x="96109500" y="8325676"/>
            <a:ext cx="29824338" cy="177406018"/>
          </a:xfrm>
        </p:spPr>
        <p:txBody>
          <a:bodyPr vert="eaVert"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>
          <a:xfrm>
            <a:off x="6625865" y="8325676"/>
            <a:ext cx="88973547" cy="177406018"/>
          </a:xfrm>
        </p:spPr>
        <p:txBody>
          <a:bodyPr vert="eaVert"/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3B1A7-07EE-4F91-997C-EC62FE25F478}" type="datetimeFigureOut">
              <a:rPr lang="he-IL" smtClean="0"/>
              <a:t>ט"ו/אדר/תשע"ח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89A80-9763-42E3-9F73-129A9B15BA9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8450855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/>
          <p:cNvSpPr>
            <a:spLocks noGrp="1"/>
          </p:cNvSpPr>
          <p:nvPr>
            <p:ph type="title"/>
          </p:nvPr>
        </p:nvSpPr>
        <p:spPr>
          <a:xfrm>
            <a:off x="1530272" y="1441791"/>
            <a:ext cx="27544872" cy="6000487"/>
          </a:xfrm>
          <a:prstGeom prst="rect">
            <a:avLst/>
          </a:prstGeom>
        </p:spPr>
        <p:txBody>
          <a:bodyPr vert="horz" lIns="452628" tIns="226314" rIns="452628" bIns="226314" rtlCol="1" anchor="ctr">
            <a:normAutofit/>
          </a:bodyPr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1530272" y="8400690"/>
            <a:ext cx="27544872" cy="23760257"/>
          </a:xfrm>
          <a:prstGeom prst="rect">
            <a:avLst/>
          </a:prstGeom>
        </p:spPr>
        <p:txBody>
          <a:bodyPr vert="horz" lIns="452628" tIns="226314" rIns="452628" bIns="226314" rtlCol="1">
            <a:normAutofit/>
          </a:bodyPr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2"/>
          </p:nvPr>
        </p:nvSpPr>
        <p:spPr>
          <a:xfrm>
            <a:off x="21933881" y="33369373"/>
            <a:ext cx="7141263" cy="1916822"/>
          </a:xfrm>
          <a:prstGeom prst="rect">
            <a:avLst/>
          </a:prstGeom>
        </p:spPr>
        <p:txBody>
          <a:bodyPr vert="horz" lIns="452628" tIns="226314" rIns="452628" bIns="226314" rtlCol="1" anchor="ctr"/>
          <a:lstStyle>
            <a:lvl1pPr algn="r">
              <a:defRPr sz="482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B3B1A7-07EE-4F91-997C-EC62FE25F478}" type="datetimeFigureOut">
              <a:rPr lang="he-IL" smtClean="0"/>
              <a:t>ט"ו/אדר/תשע"ח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3"/>
          </p:nvPr>
        </p:nvSpPr>
        <p:spPr>
          <a:xfrm>
            <a:off x="10456850" y="33369373"/>
            <a:ext cx="9691715" cy="1916822"/>
          </a:xfrm>
          <a:prstGeom prst="rect">
            <a:avLst/>
          </a:prstGeom>
        </p:spPr>
        <p:txBody>
          <a:bodyPr vert="horz" lIns="452628" tIns="226314" rIns="452628" bIns="226314" rtlCol="1" anchor="ctr"/>
          <a:lstStyle>
            <a:lvl1pPr algn="ctr">
              <a:defRPr sz="482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4"/>
          </p:nvPr>
        </p:nvSpPr>
        <p:spPr>
          <a:xfrm>
            <a:off x="1530273" y="33369373"/>
            <a:ext cx="7141263" cy="1916822"/>
          </a:xfrm>
          <a:prstGeom prst="rect">
            <a:avLst/>
          </a:prstGeom>
        </p:spPr>
        <p:txBody>
          <a:bodyPr vert="horz" lIns="452628" tIns="226314" rIns="452628" bIns="226314" rtlCol="1" anchor="ctr"/>
          <a:lstStyle>
            <a:lvl1pPr algn="l">
              <a:defRPr sz="482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489A80-9763-42E3-9F73-129A9B15BA9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64340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703379" rtl="1" eaLnBrk="1" latinLnBrk="0" hangingPunct="1">
        <a:spcBef>
          <a:spcPct val="0"/>
        </a:spcBef>
        <a:buNone/>
        <a:defRPr sz="1783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88768" indent="-1388768" algn="r" defTabSz="3703379" rtl="1" eaLnBrk="1" latinLnBrk="0" hangingPunct="1">
        <a:spcBef>
          <a:spcPct val="20000"/>
        </a:spcBef>
        <a:buFont typeface="Arial" panose="020B0604020202020204" pitchFamily="34" charset="0"/>
        <a:buChar char="•"/>
        <a:defRPr sz="12927" kern="1200">
          <a:solidFill>
            <a:schemeClr val="tx1"/>
          </a:solidFill>
          <a:latin typeface="+mn-lt"/>
          <a:ea typeface="+mn-ea"/>
          <a:cs typeface="+mn-cs"/>
        </a:defRPr>
      </a:lvl1pPr>
      <a:lvl2pPr marL="3008995" indent="-1157307" algn="r" defTabSz="3703379" rtl="1" eaLnBrk="1" latinLnBrk="0" hangingPunct="1">
        <a:spcBef>
          <a:spcPct val="20000"/>
        </a:spcBef>
        <a:buFont typeface="Arial" panose="020B0604020202020204" pitchFamily="34" charset="0"/>
        <a:buChar char="–"/>
        <a:defRPr sz="11373" kern="1200">
          <a:solidFill>
            <a:schemeClr val="tx1"/>
          </a:solidFill>
          <a:latin typeface="+mn-lt"/>
          <a:ea typeface="+mn-ea"/>
          <a:cs typeface="+mn-cs"/>
        </a:defRPr>
      </a:lvl2pPr>
      <a:lvl3pPr marL="4629223" indent="-925844" algn="r" defTabSz="3703379" rtl="1" eaLnBrk="1" latinLnBrk="0" hangingPunct="1">
        <a:spcBef>
          <a:spcPct val="20000"/>
        </a:spcBef>
        <a:buFont typeface="Arial" panose="020B0604020202020204" pitchFamily="34" charset="0"/>
        <a:buChar char="•"/>
        <a:defRPr sz="9736" kern="1200">
          <a:solidFill>
            <a:schemeClr val="tx1"/>
          </a:solidFill>
          <a:latin typeface="+mn-lt"/>
          <a:ea typeface="+mn-ea"/>
          <a:cs typeface="+mn-cs"/>
        </a:defRPr>
      </a:lvl3pPr>
      <a:lvl4pPr marL="6480913" indent="-925844" algn="r" defTabSz="3703379" rtl="1" eaLnBrk="1" latinLnBrk="0" hangingPunct="1">
        <a:spcBef>
          <a:spcPct val="20000"/>
        </a:spcBef>
        <a:buFont typeface="Arial" panose="020B0604020202020204" pitchFamily="34" charset="0"/>
        <a:buChar char="–"/>
        <a:defRPr sz="8099" kern="1200">
          <a:solidFill>
            <a:schemeClr val="tx1"/>
          </a:solidFill>
          <a:latin typeface="+mn-lt"/>
          <a:ea typeface="+mn-ea"/>
          <a:cs typeface="+mn-cs"/>
        </a:defRPr>
      </a:lvl4pPr>
      <a:lvl5pPr marL="8332603" indent="-925844" algn="r" defTabSz="3703379" rtl="1" eaLnBrk="1" latinLnBrk="0" hangingPunct="1">
        <a:spcBef>
          <a:spcPct val="20000"/>
        </a:spcBef>
        <a:buFont typeface="Arial" panose="020B0604020202020204" pitchFamily="34" charset="0"/>
        <a:buChar char="»"/>
        <a:defRPr sz="8099" kern="1200">
          <a:solidFill>
            <a:schemeClr val="tx1"/>
          </a:solidFill>
          <a:latin typeface="+mn-lt"/>
          <a:ea typeface="+mn-ea"/>
          <a:cs typeface="+mn-cs"/>
        </a:defRPr>
      </a:lvl5pPr>
      <a:lvl6pPr marL="10184292" indent="-925844" algn="r" defTabSz="3703379" rtl="1" eaLnBrk="1" latinLnBrk="0" hangingPunct="1">
        <a:spcBef>
          <a:spcPct val="20000"/>
        </a:spcBef>
        <a:buFont typeface="Arial" panose="020B0604020202020204" pitchFamily="34" charset="0"/>
        <a:buChar char="•"/>
        <a:defRPr sz="8099" kern="1200">
          <a:solidFill>
            <a:schemeClr val="tx1"/>
          </a:solidFill>
          <a:latin typeface="+mn-lt"/>
          <a:ea typeface="+mn-ea"/>
          <a:cs typeface="+mn-cs"/>
        </a:defRPr>
      </a:lvl6pPr>
      <a:lvl7pPr marL="12035981" indent="-925844" algn="r" defTabSz="3703379" rtl="1" eaLnBrk="1" latinLnBrk="0" hangingPunct="1">
        <a:spcBef>
          <a:spcPct val="20000"/>
        </a:spcBef>
        <a:buFont typeface="Arial" panose="020B0604020202020204" pitchFamily="34" charset="0"/>
        <a:buChar char="•"/>
        <a:defRPr sz="8099" kern="1200">
          <a:solidFill>
            <a:schemeClr val="tx1"/>
          </a:solidFill>
          <a:latin typeface="+mn-lt"/>
          <a:ea typeface="+mn-ea"/>
          <a:cs typeface="+mn-cs"/>
        </a:defRPr>
      </a:lvl7pPr>
      <a:lvl8pPr marL="13887670" indent="-925844" algn="r" defTabSz="3703379" rtl="1" eaLnBrk="1" latinLnBrk="0" hangingPunct="1">
        <a:spcBef>
          <a:spcPct val="20000"/>
        </a:spcBef>
        <a:buFont typeface="Arial" panose="020B0604020202020204" pitchFamily="34" charset="0"/>
        <a:buChar char="•"/>
        <a:defRPr sz="8099" kern="1200">
          <a:solidFill>
            <a:schemeClr val="tx1"/>
          </a:solidFill>
          <a:latin typeface="+mn-lt"/>
          <a:ea typeface="+mn-ea"/>
          <a:cs typeface="+mn-cs"/>
        </a:defRPr>
      </a:lvl8pPr>
      <a:lvl9pPr marL="15739360" indent="-925844" algn="r" defTabSz="3703379" rtl="1" eaLnBrk="1" latinLnBrk="0" hangingPunct="1">
        <a:spcBef>
          <a:spcPct val="20000"/>
        </a:spcBef>
        <a:buFont typeface="Arial" panose="020B0604020202020204" pitchFamily="34" charset="0"/>
        <a:buChar char="•"/>
        <a:defRPr sz="80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3703379" rtl="1" eaLnBrk="1" latinLnBrk="0" hangingPunct="1">
        <a:defRPr sz="7282" kern="1200">
          <a:solidFill>
            <a:schemeClr val="tx1"/>
          </a:solidFill>
          <a:latin typeface="+mn-lt"/>
          <a:ea typeface="+mn-ea"/>
          <a:cs typeface="+mn-cs"/>
        </a:defRPr>
      </a:lvl1pPr>
      <a:lvl2pPr marL="1851691" algn="r" defTabSz="3703379" rtl="1" eaLnBrk="1" latinLnBrk="0" hangingPunct="1">
        <a:defRPr sz="7282" kern="1200">
          <a:solidFill>
            <a:schemeClr val="tx1"/>
          </a:solidFill>
          <a:latin typeface="+mn-lt"/>
          <a:ea typeface="+mn-ea"/>
          <a:cs typeface="+mn-cs"/>
        </a:defRPr>
      </a:lvl2pPr>
      <a:lvl3pPr marL="3703379" algn="r" defTabSz="3703379" rtl="1" eaLnBrk="1" latinLnBrk="0" hangingPunct="1">
        <a:defRPr sz="7282" kern="1200">
          <a:solidFill>
            <a:schemeClr val="tx1"/>
          </a:solidFill>
          <a:latin typeface="+mn-lt"/>
          <a:ea typeface="+mn-ea"/>
          <a:cs typeface="+mn-cs"/>
        </a:defRPr>
      </a:lvl3pPr>
      <a:lvl4pPr marL="5555070" algn="r" defTabSz="3703379" rtl="1" eaLnBrk="1" latinLnBrk="0" hangingPunct="1">
        <a:defRPr sz="7282" kern="1200">
          <a:solidFill>
            <a:schemeClr val="tx1"/>
          </a:solidFill>
          <a:latin typeface="+mn-lt"/>
          <a:ea typeface="+mn-ea"/>
          <a:cs typeface="+mn-cs"/>
        </a:defRPr>
      </a:lvl4pPr>
      <a:lvl5pPr marL="7406756" algn="r" defTabSz="3703379" rtl="1" eaLnBrk="1" latinLnBrk="0" hangingPunct="1">
        <a:defRPr sz="7282" kern="1200">
          <a:solidFill>
            <a:schemeClr val="tx1"/>
          </a:solidFill>
          <a:latin typeface="+mn-lt"/>
          <a:ea typeface="+mn-ea"/>
          <a:cs typeface="+mn-cs"/>
        </a:defRPr>
      </a:lvl5pPr>
      <a:lvl6pPr marL="9258447" algn="r" defTabSz="3703379" rtl="1" eaLnBrk="1" latinLnBrk="0" hangingPunct="1">
        <a:defRPr sz="7282" kern="1200">
          <a:solidFill>
            <a:schemeClr val="tx1"/>
          </a:solidFill>
          <a:latin typeface="+mn-lt"/>
          <a:ea typeface="+mn-ea"/>
          <a:cs typeface="+mn-cs"/>
        </a:defRPr>
      </a:lvl6pPr>
      <a:lvl7pPr marL="11110137" algn="r" defTabSz="3703379" rtl="1" eaLnBrk="1" latinLnBrk="0" hangingPunct="1">
        <a:defRPr sz="7282" kern="1200">
          <a:solidFill>
            <a:schemeClr val="tx1"/>
          </a:solidFill>
          <a:latin typeface="+mn-lt"/>
          <a:ea typeface="+mn-ea"/>
          <a:cs typeface="+mn-cs"/>
        </a:defRPr>
      </a:lvl7pPr>
      <a:lvl8pPr marL="12961826" algn="r" defTabSz="3703379" rtl="1" eaLnBrk="1" latinLnBrk="0" hangingPunct="1">
        <a:defRPr sz="7282" kern="1200">
          <a:solidFill>
            <a:schemeClr val="tx1"/>
          </a:solidFill>
          <a:latin typeface="+mn-lt"/>
          <a:ea typeface="+mn-ea"/>
          <a:cs typeface="+mn-cs"/>
        </a:defRPr>
      </a:lvl8pPr>
      <a:lvl9pPr marL="14813517" algn="r" defTabSz="3703379" rtl="1" eaLnBrk="1" latinLnBrk="0" hangingPunct="1">
        <a:defRPr sz="728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1 Título"/>
          <p:cNvSpPr txBox="1">
            <a:spLocks/>
          </p:cNvSpPr>
          <p:nvPr/>
        </p:nvSpPr>
        <p:spPr>
          <a:xfrm>
            <a:off x="11703600" y="21745872"/>
            <a:ext cx="18827888" cy="1325401"/>
          </a:xfrm>
          <a:prstGeom prst="rect">
            <a:avLst/>
          </a:prstGeom>
        </p:spPr>
        <p:txBody>
          <a:bodyPr vert="horz" lIns="452628" tIns="226314" rIns="452628" bIns="226314" rtlCol="1" anchor="ctr">
            <a:noAutofit/>
          </a:bodyPr>
          <a:lstStyle>
            <a:lvl1pPr algn="ctr" defTabSz="4526280" rtl="1" eaLnBrk="1" latinLnBrk="0" hangingPunct="1">
              <a:spcBef>
                <a:spcPct val="0"/>
              </a:spcBef>
              <a:buNone/>
              <a:defRPr sz="2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>
              <a:lnSpc>
                <a:spcPct val="150000"/>
              </a:lnSpc>
            </a:pPr>
            <a:r>
              <a:rPr lang="en-US" sz="3200" b="1" dirty="0">
                <a:solidFill>
                  <a:srgbClr val="0000FF"/>
                </a:solidFill>
                <a:latin typeface="Corbel" panose="020B0503020204020204" pitchFamily="34" charset="0"/>
                <a:cs typeface="Cordia New" panose="020B0304020202020204" pitchFamily="34" charset="-34"/>
              </a:rPr>
              <a:t>Genetic </a:t>
            </a:r>
            <a:r>
              <a:rPr lang="en-US" sz="3200" b="1" dirty="0">
                <a:latin typeface="Corbel" panose="020B0503020204020204" pitchFamily="34" charset="0"/>
                <a:cs typeface="Cordia New" panose="020B0304020202020204" pitchFamily="34" charset="-34"/>
              </a:rPr>
              <a:t>and</a:t>
            </a:r>
            <a:r>
              <a:rPr lang="en-US" sz="3200" b="1" dirty="0">
                <a:solidFill>
                  <a:srgbClr val="0000FF"/>
                </a:solidFill>
                <a:latin typeface="Corbel" panose="020B0503020204020204" pitchFamily="34" charset="0"/>
                <a:cs typeface="Cordia New" panose="020B0304020202020204" pitchFamily="34" charset="-34"/>
              </a:rPr>
              <a:t> pharmacological </a:t>
            </a:r>
            <a:r>
              <a:rPr lang="en-US" sz="3200" b="1" dirty="0">
                <a:latin typeface="Corbel" panose="020B0503020204020204" pitchFamily="34" charset="0"/>
                <a:cs typeface="Cordia New" panose="020B0304020202020204" pitchFamily="34" charset="-34"/>
              </a:rPr>
              <a:t>inhibition of </a:t>
            </a:r>
            <a:r>
              <a:rPr lang="en-US" sz="3200" b="1" dirty="0" smtClean="0">
                <a:latin typeface="Corbel" panose="020B0503020204020204" pitchFamily="34" charset="0"/>
                <a:cs typeface="Cordia New" panose="020B0304020202020204" pitchFamily="34" charset="-34"/>
              </a:rPr>
              <a:t>GLS1 leads to dopaminergic changes in the ventral striatum</a:t>
            </a:r>
            <a:endParaRPr lang="en-US" sz="3200" b="1" dirty="0">
              <a:latin typeface="Corbel" panose="020B0503020204020204" pitchFamily="34" charset="0"/>
              <a:cs typeface="Cordia New" panose="020B0304020202020204" pitchFamily="34" charset="-34"/>
            </a:endParaRPr>
          </a:p>
          <a:p>
            <a:pPr rtl="0">
              <a:lnSpc>
                <a:spcPct val="150000"/>
              </a:lnSpc>
            </a:pPr>
            <a:endParaRPr lang="en-US" sz="3200" b="1" dirty="0">
              <a:latin typeface="Corbel" panose="020B0503020204020204" pitchFamily="34" charset="0"/>
              <a:cs typeface="Cordia New" panose="020B0304020202020204" pitchFamily="34" charset="-34"/>
            </a:endParaRPr>
          </a:p>
        </p:txBody>
      </p:sp>
      <p:pic>
        <p:nvPicPr>
          <p:cNvPr id="37" name="תמונה 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41375" y="22753984"/>
            <a:ext cx="11126627" cy="1096300"/>
          </a:xfrm>
          <a:prstGeom prst="rect">
            <a:avLst/>
          </a:prstGeom>
        </p:spPr>
      </p:pic>
      <p:pic>
        <p:nvPicPr>
          <p:cNvPr id="146" name="תמונה 14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066" y="21452750"/>
            <a:ext cx="10800914" cy="1064208"/>
          </a:xfrm>
          <a:prstGeom prst="rect">
            <a:avLst/>
          </a:prstGeom>
        </p:spPr>
      </p:pic>
      <p:pic>
        <p:nvPicPr>
          <p:cNvPr id="27" name="Picture 4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140" b="6702"/>
          <a:stretch/>
        </p:blipFill>
        <p:spPr bwMode="auto">
          <a:xfrm>
            <a:off x="8241934" y="8676544"/>
            <a:ext cx="3477517" cy="44774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1" name="16 CuadroTexto"/>
          <p:cNvSpPr txBox="1"/>
          <p:nvPr/>
        </p:nvSpPr>
        <p:spPr>
          <a:xfrm>
            <a:off x="443008" y="5322132"/>
            <a:ext cx="10895168" cy="14311610"/>
          </a:xfrm>
          <a:prstGeom prst="rect">
            <a:avLst/>
          </a:prstGeom>
          <a:noFill/>
          <a:ln w="38100">
            <a:noFill/>
          </a:ln>
          <a:effectLst>
            <a:softEdge rad="50800"/>
          </a:effectLst>
        </p:spPr>
        <p:txBody>
          <a:bodyPr wrap="square" rtlCol="0">
            <a:spAutoFit/>
          </a:bodyPr>
          <a:lstStyle/>
          <a:p>
            <a:pPr marL="374077" indent="-374077" algn="just" rtl="0">
              <a:lnSpc>
                <a:spcPct val="150000"/>
              </a:lnSpc>
              <a:buClr>
                <a:srgbClr val="0000FF"/>
              </a:buClr>
              <a:buFont typeface="Wingdings" panose="05000000000000000000" pitchFamily="2" charset="2"/>
              <a:buChar char="u"/>
            </a:pPr>
            <a:r>
              <a:rPr lang="en-US" sz="2800" dirty="0">
                <a:latin typeface="Corbel" panose="020B0503020204020204" pitchFamily="34" charset="0"/>
              </a:rPr>
              <a:t>Dysregulated glutamate and </a:t>
            </a:r>
            <a:r>
              <a:rPr lang="en-US" sz="2800" dirty="0" smtClean="0">
                <a:latin typeface="Corbel" panose="020B0503020204020204" pitchFamily="34" charset="0"/>
              </a:rPr>
              <a:t>dopamine </a:t>
            </a:r>
            <a:r>
              <a:rPr lang="en-US" sz="2800" dirty="0">
                <a:latin typeface="Corbel" panose="020B0503020204020204" pitchFamily="34" charset="0"/>
              </a:rPr>
              <a:t>neurotransmission has been strongly implicated  in the pathophysiology of schizophrenia. </a:t>
            </a:r>
            <a:br>
              <a:rPr lang="en-US" sz="2800" dirty="0">
                <a:latin typeface="Corbel" panose="020B0503020204020204" pitchFamily="34" charset="0"/>
              </a:rPr>
            </a:br>
            <a:endParaRPr lang="en-US" sz="2800" dirty="0">
              <a:latin typeface="Corbel" panose="020B0503020204020204" pitchFamily="34" charset="0"/>
            </a:endParaRPr>
          </a:p>
          <a:p>
            <a:pPr marL="374077" indent="-374077" algn="just" rtl="0">
              <a:lnSpc>
                <a:spcPct val="150000"/>
              </a:lnSpc>
              <a:buClr>
                <a:srgbClr val="0000FF"/>
              </a:buClr>
              <a:buFont typeface="Wingdings" panose="05000000000000000000" pitchFamily="2" charset="2"/>
              <a:buChar char="u"/>
            </a:pPr>
            <a:r>
              <a:rPr lang="en-US" sz="2800" dirty="0" err="1">
                <a:latin typeface="Corbel" panose="020B0503020204020204" pitchFamily="34" charset="0"/>
              </a:rPr>
              <a:t>Glutaminase</a:t>
            </a:r>
            <a:r>
              <a:rPr lang="en-US" sz="2800" dirty="0">
                <a:latin typeface="Corbel" panose="020B0503020204020204" pitchFamily="34" charset="0"/>
              </a:rPr>
              <a:t> 1 (GLS1) plays a critical role in </a:t>
            </a:r>
            <a:r>
              <a:rPr lang="en-US" sz="2800" dirty="0" smtClean="0">
                <a:latin typeface="Corbel" panose="020B0503020204020204" pitchFamily="34" charset="0"/>
              </a:rPr>
              <a:t>glutamate-glutamine </a:t>
            </a:r>
            <a:r>
              <a:rPr lang="en-US" sz="2800" dirty="0">
                <a:latin typeface="Corbel" panose="020B0503020204020204" pitchFamily="34" charset="0"/>
              </a:rPr>
              <a:t>cycle </a:t>
            </a:r>
            <a:r>
              <a:rPr lang="en-US" sz="2800" dirty="0" smtClean="0">
                <a:latin typeface="Corbel" panose="020B0503020204020204" pitchFamily="34" charset="0"/>
              </a:rPr>
              <a:t>and can be </a:t>
            </a:r>
            <a:r>
              <a:rPr lang="en-US" sz="2800" dirty="0">
                <a:latin typeface="Corbel" panose="020B0503020204020204" pitchFamily="34" charset="0"/>
              </a:rPr>
              <a:t>targeted with genetic and pharmacological  approaches, </a:t>
            </a:r>
            <a:r>
              <a:rPr lang="en-US" sz="2800" dirty="0" smtClean="0">
                <a:latin typeface="Corbel" panose="020B0503020204020204" pitchFamily="34" charset="0"/>
              </a:rPr>
              <a:t>in attempt </a:t>
            </a:r>
            <a:r>
              <a:rPr lang="en-US" sz="2800" dirty="0">
                <a:latin typeface="Corbel" panose="020B0503020204020204" pitchFamily="34" charset="0"/>
              </a:rPr>
              <a:t>to balance glutamate abnormalities.</a:t>
            </a:r>
          </a:p>
          <a:p>
            <a:pPr algn="just" rtl="0">
              <a:lnSpc>
                <a:spcPct val="150000"/>
              </a:lnSpc>
              <a:buClr>
                <a:srgbClr val="0000FF"/>
              </a:buClr>
            </a:pPr>
            <a:endParaRPr lang="en-US" sz="2800" dirty="0">
              <a:latin typeface="Corbel" panose="020B0503020204020204" pitchFamily="34" charset="0"/>
            </a:endParaRPr>
          </a:p>
          <a:p>
            <a:pPr marL="374077" indent="-374077" algn="l" rtl="0">
              <a:lnSpc>
                <a:spcPct val="150000"/>
              </a:lnSpc>
              <a:buClr>
                <a:srgbClr val="0000FF"/>
              </a:buClr>
              <a:buFont typeface="Wingdings" panose="05000000000000000000" pitchFamily="2" charset="2"/>
              <a:buChar char="u"/>
            </a:pPr>
            <a:r>
              <a:rPr lang="en-US" sz="2800" dirty="0">
                <a:latin typeface="Corbel" panose="020B0503020204020204" pitchFamily="34" charset="0"/>
              </a:rPr>
              <a:t>Previous studies have shown that GLS1-deficient</a:t>
            </a:r>
          </a:p>
          <a:p>
            <a:pPr algn="l" rtl="0">
              <a:lnSpc>
                <a:spcPct val="150000"/>
              </a:lnSpc>
              <a:buClr>
                <a:srgbClr val="0000FF"/>
              </a:buClr>
            </a:pPr>
            <a:r>
              <a:rPr lang="en-US" sz="2800" dirty="0">
                <a:latin typeface="Corbel" panose="020B0503020204020204" pitchFamily="34" charset="0"/>
              </a:rPr>
              <a:t>      (Gls1+/-) mice, with a reduction in hippocampal </a:t>
            </a:r>
          </a:p>
          <a:p>
            <a:pPr algn="l" rtl="0">
              <a:lnSpc>
                <a:spcPct val="150000"/>
              </a:lnSpc>
              <a:buClr>
                <a:srgbClr val="0000FF"/>
              </a:buClr>
            </a:pPr>
            <a:r>
              <a:rPr lang="en-US" sz="2800" dirty="0">
                <a:latin typeface="Corbel" panose="020B0503020204020204" pitchFamily="34" charset="0"/>
              </a:rPr>
              <a:t>      and medial prefrontal   cortex (</a:t>
            </a:r>
            <a:r>
              <a:rPr lang="en-US" sz="2800" dirty="0" err="1">
                <a:latin typeface="Corbel" panose="020B0503020204020204" pitchFamily="34" charset="0"/>
              </a:rPr>
              <a:t>mPFC</a:t>
            </a:r>
            <a:r>
              <a:rPr lang="en-US" sz="2800" dirty="0">
                <a:latin typeface="Corbel" panose="020B0503020204020204" pitchFamily="34" charset="0"/>
              </a:rPr>
              <a:t>) glutamate,</a:t>
            </a:r>
          </a:p>
          <a:p>
            <a:pPr algn="l" rtl="0">
              <a:lnSpc>
                <a:spcPct val="150000"/>
              </a:lnSpc>
              <a:buClr>
                <a:srgbClr val="0000FF"/>
              </a:buClr>
            </a:pPr>
            <a:r>
              <a:rPr lang="en-US" sz="2800" dirty="0">
                <a:latin typeface="Corbel" panose="020B0503020204020204" pitchFamily="34" charset="0"/>
              </a:rPr>
              <a:t>      exhibit a schizophrenia-resilient profile. For </a:t>
            </a:r>
          </a:p>
          <a:p>
            <a:pPr algn="l" rtl="0">
              <a:lnSpc>
                <a:spcPct val="150000"/>
              </a:lnSpc>
              <a:buClr>
                <a:srgbClr val="0000FF"/>
              </a:buClr>
            </a:pPr>
            <a:r>
              <a:rPr lang="en-US" sz="2800" dirty="0">
                <a:latin typeface="Corbel" panose="020B0503020204020204" pitchFamily="34" charset="0"/>
              </a:rPr>
              <a:t>      example, they display attenuated  sensitization to</a:t>
            </a:r>
          </a:p>
          <a:p>
            <a:pPr algn="l" rtl="0">
              <a:lnSpc>
                <a:spcPct val="150000"/>
              </a:lnSpc>
              <a:buClr>
                <a:srgbClr val="0000FF"/>
              </a:buClr>
            </a:pPr>
            <a:r>
              <a:rPr lang="en-US" sz="2800" dirty="0">
                <a:latin typeface="Corbel" panose="020B0503020204020204" pitchFamily="34" charset="0"/>
              </a:rPr>
              <a:t>      the psychotomimetic dopamine releaser D-amphetamine.</a:t>
            </a:r>
          </a:p>
          <a:p>
            <a:pPr algn="l" rtl="0">
              <a:lnSpc>
                <a:spcPct val="150000"/>
              </a:lnSpc>
              <a:buClr>
                <a:srgbClr val="0000FF"/>
              </a:buClr>
            </a:pPr>
            <a:endParaRPr lang="en-US" sz="2800" dirty="0">
              <a:latin typeface="Corbel" panose="020B0503020204020204" pitchFamily="34" charset="0"/>
            </a:endParaRPr>
          </a:p>
          <a:p>
            <a:pPr marL="374077" indent="-374077" algn="l" rtl="0">
              <a:lnSpc>
                <a:spcPct val="150000"/>
              </a:lnSpc>
              <a:buClr>
                <a:srgbClr val="0000FF"/>
              </a:buClr>
              <a:buFont typeface="Wingdings" panose="05000000000000000000" pitchFamily="2" charset="2"/>
              <a:buChar char="u"/>
            </a:pPr>
            <a:r>
              <a:rPr lang="en-US" sz="2800" b="1" dirty="0" err="1">
                <a:solidFill>
                  <a:srgbClr val="0000FF"/>
                </a:solidFill>
                <a:latin typeface="Corbel" panose="020B0503020204020204" pitchFamily="34" charset="0"/>
              </a:rPr>
              <a:t>Ebselen</a:t>
            </a:r>
            <a:r>
              <a:rPr lang="en-US" sz="2800" dirty="0">
                <a:solidFill>
                  <a:srgbClr val="0000FF"/>
                </a:solidFill>
                <a:latin typeface="Corbel" panose="020B0503020204020204" pitchFamily="34" charset="0"/>
              </a:rPr>
              <a:t> </a:t>
            </a:r>
            <a:r>
              <a:rPr lang="en-US" sz="2800" dirty="0">
                <a:latin typeface="Corbel" panose="020B0503020204020204" pitchFamily="34" charset="0"/>
              </a:rPr>
              <a:t>is a synthetic </a:t>
            </a:r>
            <a:r>
              <a:rPr lang="en-US" sz="2800" dirty="0" err="1" smtClean="0">
                <a:latin typeface="Corbel" panose="020B0503020204020204" pitchFamily="34" charset="0"/>
              </a:rPr>
              <a:t>organo</a:t>
            </a:r>
            <a:r>
              <a:rPr lang="en-US" sz="2800" dirty="0" smtClean="0">
                <a:latin typeface="Corbel" panose="020B0503020204020204" pitchFamily="34" charset="0"/>
              </a:rPr>
              <a:t>-selenium </a:t>
            </a:r>
            <a:r>
              <a:rPr lang="en-US" sz="2800" dirty="0">
                <a:latin typeface="Corbel" panose="020B0503020204020204" pitchFamily="34" charset="0"/>
              </a:rPr>
              <a:t>drug molecule with anti-inflammatory, anti-oxidant and </a:t>
            </a:r>
            <a:r>
              <a:rPr lang="en-US" sz="2800" dirty="0" err="1">
                <a:latin typeface="Corbel" panose="020B0503020204020204" pitchFamily="34" charset="0"/>
              </a:rPr>
              <a:t>cytoprotective</a:t>
            </a:r>
            <a:r>
              <a:rPr lang="en-US" sz="2800" dirty="0">
                <a:latin typeface="Corbel" panose="020B0503020204020204" pitchFamily="34" charset="0"/>
              </a:rPr>
              <a:t> activity and has been recently recognized as a potent </a:t>
            </a:r>
            <a:r>
              <a:rPr lang="en-US" sz="2800" b="1" dirty="0">
                <a:latin typeface="Corbel" panose="020B0503020204020204" pitchFamily="34" charset="0"/>
              </a:rPr>
              <a:t>GLS1 inhibitor</a:t>
            </a:r>
            <a:r>
              <a:rPr lang="en-US" sz="2800" dirty="0">
                <a:latin typeface="Corbel" panose="020B0503020204020204" pitchFamily="34" charset="0"/>
              </a:rPr>
              <a:t>.</a:t>
            </a:r>
            <a:br>
              <a:rPr lang="en-US" sz="2800" dirty="0">
                <a:latin typeface="Corbel" panose="020B0503020204020204" pitchFamily="34" charset="0"/>
              </a:rPr>
            </a:br>
            <a:endParaRPr lang="en-US" sz="2800" dirty="0">
              <a:latin typeface="Corbel" panose="020B0503020204020204" pitchFamily="34" charset="0"/>
            </a:endParaRPr>
          </a:p>
          <a:p>
            <a:pPr marL="374077" indent="-374077" algn="just" rtl="0">
              <a:lnSpc>
                <a:spcPct val="150000"/>
              </a:lnSpc>
              <a:buClr>
                <a:srgbClr val="0000FF"/>
              </a:buClr>
              <a:buFont typeface="Wingdings" panose="05000000000000000000" pitchFamily="2" charset="2"/>
              <a:buChar char="u"/>
            </a:pPr>
            <a:r>
              <a:rPr lang="en-US" sz="2800" b="1" dirty="0">
                <a:latin typeface="Corbel" panose="020B0503020204020204" pitchFamily="34" charset="0"/>
              </a:rPr>
              <a:t>In this study, we asked whether </a:t>
            </a:r>
            <a:r>
              <a:rPr lang="en-US" sz="2800" b="1" dirty="0" err="1">
                <a:solidFill>
                  <a:srgbClr val="0000FF"/>
                </a:solidFill>
                <a:latin typeface="Corbel" panose="020B0503020204020204" pitchFamily="34" charset="0"/>
              </a:rPr>
              <a:t>Ebselen</a:t>
            </a:r>
            <a:r>
              <a:rPr lang="en-US" sz="2800" b="1" dirty="0">
                <a:solidFill>
                  <a:srgbClr val="0000FF"/>
                </a:solidFill>
                <a:latin typeface="Corbel" panose="020B0503020204020204" pitchFamily="34" charset="0"/>
              </a:rPr>
              <a:t> </a:t>
            </a:r>
            <a:r>
              <a:rPr lang="en-US" sz="2800" b="1" dirty="0" smtClean="0">
                <a:latin typeface="Corbel" panose="020B0503020204020204" pitchFamily="34" charset="0"/>
              </a:rPr>
              <a:t>(EBS; 10mg/kg</a:t>
            </a:r>
            <a:r>
              <a:rPr lang="en-US" sz="2800" b="1" dirty="0">
                <a:latin typeface="Corbel" panose="020B0503020204020204" pitchFamily="34" charset="0"/>
              </a:rPr>
              <a:t>) would attenuate behavioral sensitization to amphetamine </a:t>
            </a:r>
            <a:r>
              <a:rPr lang="en-US" sz="2800" b="1" dirty="0" smtClean="0">
                <a:latin typeface="Corbel" panose="020B0503020204020204" pitchFamily="34" charset="0"/>
              </a:rPr>
              <a:t>(AMPH; 4mg/kg</a:t>
            </a:r>
            <a:r>
              <a:rPr lang="en-US" sz="2800" b="1" dirty="0">
                <a:latin typeface="Corbel" panose="020B0503020204020204" pitchFamily="34" charset="0"/>
              </a:rPr>
              <a:t>) and </a:t>
            </a:r>
            <a:r>
              <a:rPr lang="en-US" sz="2800" b="1" dirty="0" smtClean="0">
                <a:latin typeface="Corbel" panose="020B0503020204020204" pitchFamily="34" charset="0"/>
              </a:rPr>
              <a:t>would it effect </a:t>
            </a:r>
            <a:r>
              <a:rPr lang="en-US" sz="2800" b="1" dirty="0">
                <a:latin typeface="Corbel" panose="020B0503020204020204" pitchFamily="34" charset="0"/>
              </a:rPr>
              <a:t>dopaminergic markers  (D1R,D2R,DAT1) expression levels similarly to </a:t>
            </a:r>
            <a:r>
              <a:rPr lang="en-US" sz="2800" b="1" i="1" dirty="0">
                <a:latin typeface="Corbel" panose="020B0503020204020204" pitchFamily="34" charset="0"/>
              </a:rPr>
              <a:t>Gls1</a:t>
            </a:r>
            <a:r>
              <a:rPr lang="en-US" sz="2800" b="1" dirty="0">
                <a:latin typeface="Corbel" panose="020B0503020204020204" pitchFamily="34" charset="0"/>
              </a:rPr>
              <a:t>+/- mice. </a:t>
            </a:r>
          </a:p>
        </p:txBody>
      </p:sp>
      <p:sp>
        <p:nvSpPr>
          <p:cNvPr id="98" name="מלבן מעוגל 97"/>
          <p:cNvSpPr/>
          <p:nvPr/>
        </p:nvSpPr>
        <p:spPr>
          <a:xfrm>
            <a:off x="-1" y="29510704"/>
            <a:ext cx="23267607" cy="5946809"/>
          </a:xfrm>
          <a:prstGeom prst="roundRect">
            <a:avLst>
              <a:gd name="adj" fmla="val 18743"/>
            </a:avLst>
          </a:prstGeom>
          <a:solidFill>
            <a:schemeClr val="bg1">
              <a:lumMod val="95000"/>
              <a:alpha val="42000"/>
            </a:schemeClr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5" name="Rectangle 4"/>
          <p:cNvSpPr/>
          <p:nvPr/>
        </p:nvSpPr>
        <p:spPr>
          <a:xfrm>
            <a:off x="22054144" y="7273389"/>
            <a:ext cx="272563" cy="2624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82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28244" y="1075109"/>
            <a:ext cx="3711868" cy="21304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9" name="28 CuadroTexto"/>
          <p:cNvSpPr txBox="1"/>
          <p:nvPr/>
        </p:nvSpPr>
        <p:spPr>
          <a:xfrm>
            <a:off x="-179014" y="1007568"/>
            <a:ext cx="2806958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/>
            <a:r>
              <a:rPr lang="en-US" sz="7200" b="1" dirty="0">
                <a:solidFill>
                  <a:srgbClr val="3A54F0"/>
                </a:solidFill>
              </a:rPr>
              <a:t>The effects of the </a:t>
            </a:r>
            <a:r>
              <a:rPr lang="en-US" sz="7200" b="1" dirty="0" err="1">
                <a:solidFill>
                  <a:srgbClr val="3A54F0"/>
                </a:solidFill>
              </a:rPr>
              <a:t>glutaminase</a:t>
            </a:r>
            <a:r>
              <a:rPr lang="en-US" sz="7200" b="1" dirty="0">
                <a:solidFill>
                  <a:srgbClr val="3A54F0"/>
                </a:solidFill>
              </a:rPr>
              <a:t> 1 inhibitor </a:t>
            </a:r>
            <a:r>
              <a:rPr lang="en-US" sz="7200" b="1" dirty="0" err="1">
                <a:solidFill>
                  <a:srgbClr val="3A54F0"/>
                </a:solidFill>
              </a:rPr>
              <a:t>Ebselen</a:t>
            </a:r>
            <a:r>
              <a:rPr lang="en-US" sz="7200" b="1" dirty="0">
                <a:solidFill>
                  <a:srgbClr val="3A54F0"/>
                </a:solidFill>
              </a:rPr>
              <a:t> on dopamine </a:t>
            </a:r>
          </a:p>
          <a:p>
            <a:pPr algn="ctr" rtl="0"/>
            <a:r>
              <a:rPr lang="en-US" sz="7200" b="1" dirty="0">
                <a:solidFill>
                  <a:srgbClr val="3A54F0"/>
                </a:solidFill>
              </a:rPr>
              <a:t>markers and locomotion of amphetamine-sensitized mice</a:t>
            </a:r>
            <a:endParaRPr lang="en-US" sz="7200" dirty="0">
              <a:solidFill>
                <a:srgbClr val="3A54F0"/>
              </a:solidFill>
            </a:endParaRPr>
          </a:p>
        </p:txBody>
      </p:sp>
      <p:sp>
        <p:nvSpPr>
          <p:cNvPr id="193" name="Rectangle 48"/>
          <p:cNvSpPr/>
          <p:nvPr/>
        </p:nvSpPr>
        <p:spPr>
          <a:xfrm>
            <a:off x="1828896" y="3301590"/>
            <a:ext cx="25499146" cy="1200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4000" dirty="0">
                <a:latin typeface="Corbel" panose="020B0503020204020204" pitchFamily="34" charset="0"/>
              </a:rPr>
              <a:t>Gross A., Cohen R., </a:t>
            </a:r>
            <a:r>
              <a:rPr lang="en-US" sz="4000" dirty="0" err="1">
                <a:latin typeface="Corbel" panose="020B0503020204020204" pitchFamily="34" charset="0"/>
              </a:rPr>
              <a:t>Heffetz-Giterman</a:t>
            </a:r>
            <a:r>
              <a:rPr lang="en-US" sz="4000" dirty="0">
                <a:latin typeface="Corbel" panose="020B0503020204020204" pitchFamily="34" charset="0"/>
              </a:rPr>
              <a:t> L., Lander S.S., and </a:t>
            </a:r>
            <a:r>
              <a:rPr lang="en-US" sz="4000" dirty="0" err="1">
                <a:latin typeface="Corbel" panose="020B0503020204020204" pitchFamily="34" charset="0"/>
              </a:rPr>
              <a:t>Gaisler</a:t>
            </a:r>
            <a:r>
              <a:rPr lang="en-US" sz="4000" dirty="0">
                <a:latin typeface="Corbel" panose="020B0503020204020204" pitchFamily="34" charset="0"/>
              </a:rPr>
              <a:t>-Salomon I.</a:t>
            </a:r>
            <a:r>
              <a:rPr lang="en-US" sz="4000" baseline="30000" dirty="0">
                <a:latin typeface="Corbel" panose="020B0503020204020204" pitchFamily="34" charset="0"/>
              </a:rPr>
              <a:t> </a:t>
            </a:r>
            <a:endParaRPr lang="en-US" sz="4000" dirty="0">
              <a:latin typeface="Corbel" panose="020B0503020204020204" pitchFamily="34" charset="0"/>
            </a:endParaRPr>
          </a:p>
          <a:p>
            <a:pPr>
              <a:tabLst>
                <a:tab pos="14970125" algn="l"/>
                <a:tab pos="15163800" algn="l"/>
              </a:tabLst>
            </a:pPr>
            <a:endParaRPr lang="en-US" sz="3199" dirty="0">
              <a:solidFill>
                <a:schemeClr val="tx2">
                  <a:lumMod val="50000"/>
                </a:schemeClr>
              </a:solidFill>
              <a:latin typeface="Corbel" panose="020B0503020204020204" pitchFamily="34" charset="0"/>
            </a:endParaRPr>
          </a:p>
        </p:txBody>
      </p:sp>
      <p:sp>
        <p:nvSpPr>
          <p:cNvPr id="340" name="1 Título"/>
          <p:cNvSpPr>
            <a:spLocks noGrp="1"/>
          </p:cNvSpPr>
          <p:nvPr>
            <p:ph type="ctrTitle"/>
          </p:nvPr>
        </p:nvSpPr>
        <p:spPr>
          <a:xfrm>
            <a:off x="684000" y="4641080"/>
            <a:ext cx="7170080" cy="542952"/>
          </a:xfrm>
        </p:spPr>
        <p:txBody>
          <a:bodyPr>
            <a:noAutofit/>
          </a:bodyPr>
          <a:lstStyle/>
          <a:p>
            <a:pPr algn="l"/>
            <a:r>
              <a:rPr lang="en-US" sz="4400" b="1" dirty="0">
                <a:solidFill>
                  <a:srgbClr val="0000FF"/>
                </a:solidFill>
                <a:latin typeface="Corbel" panose="020B0503020204020204" pitchFamily="34" charset="0"/>
                <a:cs typeface="Cordia New" panose="020B0304020202020204" pitchFamily="34" charset="-34"/>
              </a:rPr>
              <a:t>Background</a:t>
            </a:r>
          </a:p>
        </p:txBody>
      </p:sp>
      <p:sp>
        <p:nvSpPr>
          <p:cNvPr id="9" name="8 Rectángulo"/>
          <p:cNvSpPr/>
          <p:nvPr/>
        </p:nvSpPr>
        <p:spPr>
          <a:xfrm>
            <a:off x="360000" y="935560"/>
            <a:ext cx="360000" cy="2377557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82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61" name="160 Rectángulo"/>
          <p:cNvSpPr/>
          <p:nvPr/>
        </p:nvSpPr>
        <p:spPr>
          <a:xfrm>
            <a:off x="396000" y="4386523"/>
            <a:ext cx="235674" cy="72550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82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74" name="1 Título"/>
          <p:cNvSpPr txBox="1">
            <a:spLocks/>
          </p:cNvSpPr>
          <p:nvPr/>
        </p:nvSpPr>
        <p:spPr>
          <a:xfrm>
            <a:off x="684000" y="20522032"/>
            <a:ext cx="9020072" cy="542952"/>
          </a:xfrm>
          <a:prstGeom prst="rect">
            <a:avLst/>
          </a:prstGeom>
        </p:spPr>
        <p:txBody>
          <a:bodyPr vert="horz" lIns="370351" tIns="185175" rIns="370351" bIns="185175" rtlCol="1" anchor="ctr">
            <a:noAutofit/>
          </a:bodyPr>
          <a:lstStyle>
            <a:lvl1pPr algn="ctr" defTabSz="4526280" rtl="1" eaLnBrk="1" latinLnBrk="0" hangingPunct="1">
              <a:spcBef>
                <a:spcPct val="0"/>
              </a:spcBef>
              <a:buNone/>
              <a:defRPr sz="2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400" b="1" dirty="0">
                <a:solidFill>
                  <a:srgbClr val="0000FF"/>
                </a:solidFill>
                <a:latin typeface="Corbel" panose="020B0503020204020204" pitchFamily="34" charset="0"/>
                <a:cs typeface="Cordia New" panose="020B0304020202020204" pitchFamily="34" charset="-34"/>
              </a:rPr>
              <a:t>Experimental design</a:t>
            </a:r>
          </a:p>
        </p:txBody>
      </p:sp>
      <p:sp>
        <p:nvSpPr>
          <p:cNvPr id="181" name="180 Rectángulo"/>
          <p:cNvSpPr/>
          <p:nvPr/>
        </p:nvSpPr>
        <p:spPr>
          <a:xfrm>
            <a:off x="396000" y="20399259"/>
            <a:ext cx="235674" cy="72550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82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09" name="1 Título"/>
          <p:cNvSpPr txBox="1">
            <a:spLocks/>
          </p:cNvSpPr>
          <p:nvPr/>
        </p:nvSpPr>
        <p:spPr>
          <a:xfrm>
            <a:off x="12600000" y="4641080"/>
            <a:ext cx="7170080" cy="542952"/>
          </a:xfrm>
          <a:prstGeom prst="rect">
            <a:avLst/>
          </a:prstGeom>
        </p:spPr>
        <p:txBody>
          <a:bodyPr vert="horz" lIns="370351" tIns="185175" rIns="370351" bIns="185175" rtlCol="1" anchor="ctr">
            <a:noAutofit/>
          </a:bodyPr>
          <a:lstStyle>
            <a:lvl1pPr algn="ctr" defTabSz="4526280" rtl="1" eaLnBrk="1" latinLnBrk="0" hangingPunct="1">
              <a:spcBef>
                <a:spcPct val="0"/>
              </a:spcBef>
              <a:buNone/>
              <a:defRPr sz="2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tabLst>
                <a:tab pos="6273800" algn="l"/>
              </a:tabLst>
            </a:pPr>
            <a:r>
              <a:rPr lang="en-US" sz="4400" b="1" dirty="0">
                <a:solidFill>
                  <a:srgbClr val="0000FF"/>
                </a:solidFill>
                <a:latin typeface="Corbel" panose="020B0503020204020204" pitchFamily="34" charset="0"/>
                <a:cs typeface="Cordia New" panose="020B0304020202020204" pitchFamily="34" charset="-34"/>
              </a:rPr>
              <a:t>Results</a:t>
            </a:r>
          </a:p>
        </p:txBody>
      </p:sp>
      <p:sp>
        <p:nvSpPr>
          <p:cNvPr id="211" name="210 Rectángulo"/>
          <p:cNvSpPr/>
          <p:nvPr/>
        </p:nvSpPr>
        <p:spPr>
          <a:xfrm>
            <a:off x="12208945" y="4425056"/>
            <a:ext cx="235674" cy="72550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82">
              <a:solidFill>
                <a:schemeClr val="bg1">
                  <a:lumMod val="75000"/>
                </a:schemeClr>
              </a:solidFill>
            </a:endParaRPr>
          </a:p>
        </p:txBody>
      </p:sp>
      <p:grpSp>
        <p:nvGrpSpPr>
          <p:cNvPr id="15" name="Group 14"/>
          <p:cNvGrpSpPr/>
          <p:nvPr/>
        </p:nvGrpSpPr>
        <p:grpSpPr>
          <a:xfrm>
            <a:off x="556373" y="30026792"/>
            <a:ext cx="30252504" cy="5598846"/>
            <a:chOff x="22874489" y="17788490"/>
            <a:chExt cx="9102303" cy="15667854"/>
          </a:xfrm>
        </p:grpSpPr>
        <p:sp>
          <p:nvSpPr>
            <p:cNvPr id="285" name="284 CuadroTexto"/>
            <p:cNvSpPr txBox="1"/>
            <p:nvPr/>
          </p:nvSpPr>
          <p:spPr>
            <a:xfrm>
              <a:off x="22874489" y="18728383"/>
              <a:ext cx="6774190" cy="147279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175" indent="-457175" algn="just" rtl="0">
                <a:lnSpc>
                  <a:spcPct val="150000"/>
                </a:lnSpc>
                <a:buClr>
                  <a:srgbClr val="0000FF"/>
                </a:buClr>
                <a:buFont typeface="Wingdings" panose="05000000000000000000" pitchFamily="2" charset="2"/>
                <a:buChar char="u"/>
              </a:pPr>
              <a:r>
                <a:rPr lang="en-US" sz="2800" dirty="0" err="1" smtClean="0">
                  <a:latin typeface="Corbel" panose="020B0503020204020204" pitchFamily="34" charset="0"/>
                </a:rPr>
                <a:t>Ebselen</a:t>
              </a:r>
              <a:r>
                <a:rPr lang="en-US" sz="2800" dirty="0" smtClean="0">
                  <a:latin typeface="Corbel" panose="020B0503020204020204" pitchFamily="34" charset="0"/>
                </a:rPr>
                <a:t>-treated </a:t>
              </a:r>
              <a:r>
                <a:rPr lang="en-US" sz="2800" dirty="0">
                  <a:latin typeface="Corbel" panose="020B0503020204020204" pitchFamily="34" charset="0"/>
                </a:rPr>
                <a:t>mice show a trend towards attenuated behavioral response to amphetamine sensitization, similarly to </a:t>
              </a:r>
              <a:r>
                <a:rPr lang="en-US" sz="2800" i="1" dirty="0">
                  <a:latin typeface="Corbel" panose="020B0503020204020204" pitchFamily="34" charset="0"/>
                </a:rPr>
                <a:t>Gls1</a:t>
              </a:r>
              <a:r>
                <a:rPr lang="en-US" sz="2800" dirty="0">
                  <a:latin typeface="Corbel" panose="020B0503020204020204" pitchFamily="34" charset="0"/>
                </a:rPr>
                <a:t>+/- mice, but dissociated in their mRNA expression of dopaminergic markers (D1R,D2R,DAT1) In the  ventral striatum</a:t>
              </a:r>
              <a:r>
                <a:rPr lang="en-US" sz="2800" dirty="0" smtClean="0">
                  <a:latin typeface="Corbel" panose="020B0503020204020204" pitchFamily="34" charset="0"/>
                </a:rPr>
                <a:t>.</a:t>
              </a:r>
            </a:p>
            <a:p>
              <a:pPr marL="457175" indent="-457175" algn="just" rtl="0">
                <a:lnSpc>
                  <a:spcPct val="150000"/>
                </a:lnSpc>
                <a:buClr>
                  <a:srgbClr val="0000FF"/>
                </a:buClr>
                <a:buFont typeface="Wingdings" panose="05000000000000000000" pitchFamily="2" charset="2"/>
                <a:buChar char="u"/>
              </a:pPr>
              <a:r>
                <a:rPr lang="en-US" sz="2800" dirty="0" err="1" smtClean="0">
                  <a:latin typeface="Corbel" panose="020B0503020204020204" pitchFamily="34" charset="0"/>
                </a:rPr>
                <a:t>Subchronic</a:t>
              </a:r>
              <a:r>
                <a:rPr lang="en-US" sz="2800" dirty="0" smtClean="0">
                  <a:latin typeface="Corbel" panose="020B0503020204020204" pitchFamily="34" charset="0"/>
                </a:rPr>
                <a:t> </a:t>
              </a:r>
              <a:r>
                <a:rPr lang="en-US" sz="2800" dirty="0" err="1">
                  <a:latin typeface="Corbel" panose="020B0503020204020204" pitchFamily="34" charset="0"/>
                </a:rPr>
                <a:t>Ebselen</a:t>
              </a:r>
              <a:r>
                <a:rPr lang="en-US" sz="2800" dirty="0">
                  <a:latin typeface="Corbel" panose="020B0503020204020204" pitchFamily="34" charset="0"/>
                </a:rPr>
                <a:t> treatment in adult mice has long-term effects on the expression of mRNA. After a long wash out period, </a:t>
              </a:r>
              <a:r>
                <a:rPr lang="en-US" sz="2800" dirty="0" err="1">
                  <a:latin typeface="Corbel" panose="020B0503020204020204" pitchFamily="34" charset="0"/>
                </a:rPr>
                <a:t>Ebselen</a:t>
              </a:r>
              <a:r>
                <a:rPr lang="en-US" sz="2800" dirty="0">
                  <a:latin typeface="Corbel" panose="020B0503020204020204" pitchFamily="34" charset="0"/>
                </a:rPr>
                <a:t>-treated, amphetamine-sensitized mice expressed low </a:t>
              </a:r>
              <a:r>
                <a:rPr lang="en-US" sz="2800" dirty="0" smtClean="0">
                  <a:latin typeface="Corbel" panose="020B0503020204020204" pitchFamily="34" charset="0"/>
                </a:rPr>
                <a:t>GLS1  </a:t>
              </a:r>
              <a:r>
                <a:rPr lang="en-US" sz="2800" dirty="0">
                  <a:latin typeface="Corbel" panose="020B0503020204020204" pitchFamily="34" charset="0"/>
                </a:rPr>
                <a:t>levels in the hippocampus and high D1R,D2R </a:t>
              </a:r>
              <a:r>
                <a:rPr lang="en-US" sz="2800" dirty="0" smtClean="0">
                  <a:latin typeface="Corbel" panose="020B0503020204020204" pitchFamily="34" charset="0"/>
                </a:rPr>
                <a:t>levels</a:t>
              </a:r>
              <a:r>
                <a:rPr lang="en-US" sz="2800" dirty="0">
                  <a:latin typeface="Corbel" panose="020B0503020204020204" pitchFamily="34" charset="0"/>
                </a:rPr>
                <a:t> in the ventral </a:t>
              </a:r>
              <a:r>
                <a:rPr lang="en-US" sz="2800" dirty="0" smtClean="0">
                  <a:latin typeface="Corbel" panose="020B0503020204020204" pitchFamily="34" charset="0"/>
                </a:rPr>
                <a:t>striatum.</a:t>
              </a:r>
            </a:p>
            <a:p>
              <a:pPr marL="457175" indent="-457175" algn="just" rtl="0">
                <a:lnSpc>
                  <a:spcPct val="150000"/>
                </a:lnSpc>
                <a:buClr>
                  <a:srgbClr val="0000FF"/>
                </a:buClr>
                <a:buFont typeface="Wingdings" panose="05000000000000000000" pitchFamily="2" charset="2"/>
                <a:buChar char="u"/>
              </a:pPr>
              <a:r>
                <a:rPr lang="en-US" sz="2800" i="1" dirty="0" smtClean="0">
                  <a:latin typeface="Corbel" panose="020B0503020204020204" pitchFamily="34" charset="0"/>
                </a:rPr>
                <a:t>Gls1</a:t>
              </a:r>
              <a:r>
                <a:rPr lang="en-US" sz="2800" dirty="0">
                  <a:latin typeface="Corbel" panose="020B0503020204020204" pitchFamily="34" charset="0"/>
                </a:rPr>
                <a:t>+/- </a:t>
              </a:r>
              <a:r>
                <a:rPr lang="en-US" sz="2800" dirty="0" smtClean="0">
                  <a:latin typeface="Corbel" panose="020B0503020204020204" pitchFamily="34" charset="0"/>
                </a:rPr>
                <a:t>mice tendency of low dopaminergic (D1R,D2R,DAT1) mRNA </a:t>
              </a:r>
              <a:r>
                <a:rPr lang="en-US" sz="2800" dirty="0">
                  <a:latin typeface="Corbel" panose="020B0503020204020204" pitchFamily="34" charset="0"/>
                </a:rPr>
                <a:t>expression may </a:t>
              </a:r>
              <a:r>
                <a:rPr lang="en-US" sz="2800" dirty="0" smtClean="0">
                  <a:latin typeface="Corbel" panose="020B0503020204020204" pitchFamily="34" charset="0"/>
                </a:rPr>
                <a:t>indicate a </a:t>
              </a:r>
              <a:r>
                <a:rPr lang="en-US" sz="2800" dirty="0">
                  <a:latin typeface="Corbel" panose="020B0503020204020204" pitchFamily="34" charset="0"/>
                </a:rPr>
                <a:t>special mechanism of response to </a:t>
              </a:r>
              <a:r>
                <a:rPr lang="en-US" sz="2800" dirty="0" smtClean="0">
                  <a:latin typeface="Corbel" panose="020B0503020204020204" pitchFamily="34" charset="0"/>
                </a:rPr>
                <a:t>dopamine-related  challenges</a:t>
              </a:r>
              <a:r>
                <a:rPr lang="en-US" sz="2800" dirty="0">
                  <a:latin typeface="Corbel" panose="020B0503020204020204" pitchFamily="34" charset="0"/>
                </a:rPr>
                <a:t>,</a:t>
              </a:r>
              <a:r>
                <a:rPr lang="en-US" sz="2800" dirty="0" smtClean="0">
                  <a:latin typeface="Corbel" panose="020B0503020204020204" pitchFamily="34" charset="0"/>
                </a:rPr>
                <a:t> or point to low baseline levels of dopamine markers in the ventral striatum . </a:t>
              </a:r>
              <a:endParaRPr lang="en-US" sz="2800" dirty="0">
                <a:latin typeface="Corbel" panose="020B0503020204020204" pitchFamily="34" charset="0"/>
              </a:endParaRPr>
            </a:p>
            <a:p>
              <a:pPr marL="457175" indent="-457175" algn="just" rtl="0">
                <a:lnSpc>
                  <a:spcPct val="150000"/>
                </a:lnSpc>
                <a:buClr>
                  <a:srgbClr val="0000FF"/>
                </a:buClr>
                <a:buFont typeface="Wingdings" panose="05000000000000000000" pitchFamily="2" charset="2"/>
                <a:buChar char="u"/>
              </a:pPr>
              <a:r>
                <a:rPr lang="en-US" sz="2800" dirty="0" smtClean="0">
                  <a:latin typeface="Corbel" panose="020B0503020204020204" pitchFamily="34" charset="0"/>
                </a:rPr>
                <a:t>The </a:t>
              </a:r>
              <a:r>
                <a:rPr lang="en-US" sz="2800" dirty="0">
                  <a:latin typeface="Corbel" panose="020B0503020204020204" pitchFamily="34" charset="0"/>
                </a:rPr>
                <a:t>attenuated behavioral response </a:t>
              </a:r>
              <a:r>
                <a:rPr lang="en-US" sz="2800" dirty="0" smtClean="0">
                  <a:latin typeface="Corbel" panose="020B0503020204020204" pitchFamily="34" charset="0"/>
                </a:rPr>
                <a:t>among </a:t>
              </a:r>
              <a:r>
                <a:rPr lang="en-US" sz="2800" i="1" dirty="0">
                  <a:latin typeface="Corbel" panose="020B0503020204020204" pitchFamily="34" charset="0"/>
                </a:rPr>
                <a:t>Gls1</a:t>
              </a:r>
              <a:r>
                <a:rPr lang="en-US" sz="2800" dirty="0">
                  <a:latin typeface="Corbel" panose="020B0503020204020204" pitchFamily="34" charset="0"/>
                </a:rPr>
                <a:t>+/- and </a:t>
              </a:r>
              <a:r>
                <a:rPr lang="en-US" sz="2800" dirty="0" err="1">
                  <a:latin typeface="Corbel" panose="020B0503020204020204" pitchFamily="34" charset="0"/>
                </a:rPr>
                <a:t>Ebselen</a:t>
              </a:r>
              <a:r>
                <a:rPr lang="en-US" sz="2800" dirty="0">
                  <a:latin typeface="Corbel" panose="020B0503020204020204" pitchFamily="34" charset="0"/>
                </a:rPr>
                <a:t>-treated </a:t>
              </a:r>
              <a:r>
                <a:rPr lang="en-US" sz="2800" dirty="0" smtClean="0">
                  <a:latin typeface="Corbel" panose="020B0503020204020204" pitchFamily="34" charset="0"/>
                </a:rPr>
                <a:t>mice, possibly stem from </a:t>
              </a:r>
              <a:r>
                <a:rPr lang="en-US" sz="2800" dirty="0">
                  <a:latin typeface="Corbel" panose="020B0503020204020204" pitchFamily="34" charset="0"/>
                </a:rPr>
                <a:t>low hippocampal glutamate </a:t>
              </a:r>
              <a:r>
                <a:rPr lang="en-US" sz="2800" dirty="0" smtClean="0">
                  <a:latin typeface="Corbel" panose="020B0503020204020204" pitchFamily="34" charset="0"/>
                </a:rPr>
                <a:t>drive to the striatum, leading to alteration of dopaminergic gene expression and moderate response to amphetamine </a:t>
              </a:r>
              <a:r>
                <a:rPr lang="en-US" sz="2800" dirty="0">
                  <a:latin typeface="Corbel" panose="020B0503020204020204" pitchFamily="34" charset="0"/>
                </a:rPr>
                <a:t>sensitization. </a:t>
              </a:r>
            </a:p>
          </p:txBody>
        </p:sp>
        <p:sp>
          <p:nvSpPr>
            <p:cNvPr id="286" name="1 Título"/>
            <p:cNvSpPr txBox="1">
              <a:spLocks/>
            </p:cNvSpPr>
            <p:nvPr/>
          </p:nvSpPr>
          <p:spPr>
            <a:xfrm>
              <a:off x="22956720" y="17788490"/>
              <a:ext cx="9020072" cy="542953"/>
            </a:xfrm>
            <a:prstGeom prst="rect">
              <a:avLst/>
            </a:prstGeom>
          </p:spPr>
          <p:txBody>
            <a:bodyPr vert="horz" lIns="370351" tIns="185175" rIns="370351" bIns="185175" rtlCol="1" anchor="ctr">
              <a:noAutofit/>
            </a:bodyPr>
            <a:lstStyle>
              <a:lvl1pPr algn="ctr" defTabSz="4526280" rtl="1" eaLnBrk="1" latinLnBrk="0" hangingPunct="1">
                <a:spcBef>
                  <a:spcPct val="0"/>
                </a:spcBef>
                <a:buNone/>
                <a:defRPr sz="218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sz="4400" b="1" dirty="0">
                  <a:solidFill>
                    <a:srgbClr val="0000FF"/>
                  </a:solidFill>
                  <a:latin typeface="Corbel" panose="020B0503020204020204" pitchFamily="34" charset="0"/>
                  <a:cs typeface="Cordia New" panose="020B0304020202020204" pitchFamily="34" charset="-34"/>
                </a:rPr>
                <a:t>Conclusions</a:t>
              </a:r>
            </a:p>
          </p:txBody>
        </p:sp>
      </p:grpSp>
      <p:sp>
        <p:nvSpPr>
          <p:cNvPr id="287" name="286 Rectángulo"/>
          <p:cNvSpPr/>
          <p:nvPr/>
        </p:nvSpPr>
        <p:spPr>
          <a:xfrm>
            <a:off x="612000" y="29738760"/>
            <a:ext cx="235674" cy="64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  <a:alpha val="98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82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5414627" y="20172792"/>
            <a:ext cx="4537523" cy="155298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 rtl="0"/>
            <a:r>
              <a:rPr lang="fr-FR" sz="7856" i="1" dirty="0">
                <a:latin typeface="Corbel" panose="020B0503020204020204" pitchFamily="34" charset="0"/>
              </a:rPr>
              <a:t> </a:t>
            </a:r>
            <a:r>
              <a:rPr lang="fr-FR" sz="1636" dirty="0" err="1">
                <a:latin typeface="Corbel" panose="020B0503020204020204" pitchFamily="34" charset="0"/>
              </a:rPr>
              <a:t>Gaisler</a:t>
            </a:r>
            <a:r>
              <a:rPr lang="fr-FR" sz="1636" dirty="0">
                <a:latin typeface="Corbel" panose="020B0503020204020204" pitchFamily="34" charset="0"/>
              </a:rPr>
              <a:t>-Salomon et al. </a:t>
            </a:r>
            <a:r>
              <a:rPr lang="fr-FR" sz="1636" dirty="0" err="1">
                <a:latin typeface="Corbel" panose="020B0503020204020204" pitchFamily="34" charset="0"/>
              </a:rPr>
              <a:t>Hippocampus</a:t>
            </a:r>
            <a:r>
              <a:rPr lang="fr-FR" sz="1636" dirty="0">
                <a:latin typeface="Corbel" panose="020B0503020204020204" pitchFamily="34" charset="0"/>
              </a:rPr>
              <a:t> 2012</a:t>
            </a:r>
            <a:endParaRPr lang="en-US" sz="1636" dirty="0">
              <a:latin typeface="Corbel" panose="020B0503020204020204" pitchFamily="34" charset="0"/>
            </a:endParaRPr>
          </a:p>
          <a:p>
            <a:pPr algn="l" defTabSz="3703379" rtl="0"/>
            <a:endParaRPr lang="en-US" sz="1636" dirty="0"/>
          </a:p>
        </p:txBody>
      </p:sp>
      <p:sp>
        <p:nvSpPr>
          <p:cNvPr id="94" name="1 Título"/>
          <p:cNvSpPr txBox="1">
            <a:spLocks/>
          </p:cNvSpPr>
          <p:nvPr/>
        </p:nvSpPr>
        <p:spPr>
          <a:xfrm>
            <a:off x="11703600" y="4823992"/>
            <a:ext cx="18866096" cy="1726378"/>
          </a:xfrm>
          <a:prstGeom prst="rect">
            <a:avLst/>
          </a:prstGeom>
        </p:spPr>
        <p:txBody>
          <a:bodyPr vert="horz" lIns="370351" tIns="185175" rIns="370351" bIns="185175" rtlCol="1" anchor="ctr">
            <a:noAutofit/>
          </a:bodyPr>
          <a:lstStyle>
            <a:lvl1pPr algn="ctr" defTabSz="4526280" rtl="1" eaLnBrk="1" latinLnBrk="0" hangingPunct="1">
              <a:spcBef>
                <a:spcPct val="0"/>
              </a:spcBef>
              <a:buNone/>
              <a:defRPr sz="2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50000"/>
              </a:lnSpc>
              <a:spcAft>
                <a:spcPts val="1200"/>
              </a:spcAft>
            </a:pPr>
            <a:r>
              <a:rPr lang="en-US" sz="3199" b="1" dirty="0">
                <a:solidFill>
                  <a:srgbClr val="0000FF"/>
                </a:solidFill>
                <a:latin typeface="Corbel" panose="020B0503020204020204" pitchFamily="34" charset="0"/>
                <a:cs typeface="Cordia New" panose="020B0304020202020204" pitchFamily="34" charset="-34"/>
              </a:rPr>
              <a:t>Similarly to </a:t>
            </a:r>
            <a:r>
              <a:rPr lang="en-US" sz="3199" b="1" i="1" dirty="0">
                <a:solidFill>
                  <a:srgbClr val="0000FF"/>
                </a:solidFill>
                <a:latin typeface="Corbel" panose="020B0503020204020204" pitchFamily="34" charset="0"/>
                <a:cs typeface="Cordia New" panose="020B0304020202020204" pitchFamily="34" charset="-34"/>
              </a:rPr>
              <a:t>Gls1</a:t>
            </a:r>
            <a:r>
              <a:rPr lang="en-US" sz="3199" b="1" dirty="0">
                <a:solidFill>
                  <a:srgbClr val="0000FF"/>
                </a:solidFill>
                <a:latin typeface="Corbel" panose="020B0503020204020204" pitchFamily="34" charset="0"/>
                <a:cs typeface="Cordia New" panose="020B0304020202020204" pitchFamily="34" charset="-34"/>
              </a:rPr>
              <a:t>+/- mice, </a:t>
            </a:r>
            <a:r>
              <a:rPr lang="en-US" sz="3199" b="1" dirty="0" err="1">
                <a:solidFill>
                  <a:srgbClr val="0000FF"/>
                </a:solidFill>
                <a:latin typeface="Corbel" panose="020B0503020204020204" pitchFamily="34" charset="0"/>
                <a:cs typeface="Cordia New" panose="020B0304020202020204" pitchFamily="34" charset="-34"/>
              </a:rPr>
              <a:t>Ebselen</a:t>
            </a:r>
            <a:r>
              <a:rPr lang="en-US" sz="3199" b="1" dirty="0">
                <a:solidFill>
                  <a:srgbClr val="0000FF"/>
                </a:solidFill>
                <a:latin typeface="Corbel" panose="020B0503020204020204" pitchFamily="34" charset="0"/>
                <a:cs typeface="Cordia New" panose="020B0304020202020204" pitchFamily="34" charset="-34"/>
              </a:rPr>
              <a:t>-treated mice show reduced behavioral sensitization to Amphetamine</a:t>
            </a:r>
            <a:endParaRPr lang="en-US" sz="3199" b="1" dirty="0">
              <a:latin typeface="Corbel" panose="020B0503020204020204" pitchFamily="34" charset="0"/>
              <a:cs typeface="Cordia New" panose="020B0304020202020204" pitchFamily="34" charset="-34"/>
            </a:endParaRPr>
          </a:p>
        </p:txBody>
      </p:sp>
      <p:pic>
        <p:nvPicPr>
          <p:cNvPr id="26" name="תמונה 2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47483" y="15583923"/>
            <a:ext cx="10307951" cy="5868826"/>
          </a:xfrm>
          <a:prstGeom prst="rect">
            <a:avLst/>
          </a:prstGeom>
        </p:spPr>
      </p:pic>
      <p:grpSp>
        <p:nvGrpSpPr>
          <p:cNvPr id="73" name="Group 13"/>
          <p:cNvGrpSpPr/>
          <p:nvPr/>
        </p:nvGrpSpPr>
        <p:grpSpPr>
          <a:xfrm>
            <a:off x="22455836" y="14936093"/>
            <a:ext cx="7573014" cy="5886680"/>
            <a:chOff x="23162123" y="7273386"/>
            <a:chExt cx="5226525" cy="3964177"/>
          </a:xfrm>
        </p:grpSpPr>
        <p:pic>
          <p:nvPicPr>
            <p:cNvPr id="74" name="Picture 18"/>
            <p:cNvPicPr>
              <a:picLocks noChangeAspect="1" noChangeArrowheads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009" r="1"/>
            <a:stretch/>
          </p:blipFill>
          <p:spPr bwMode="auto">
            <a:xfrm>
              <a:off x="23162123" y="7273386"/>
              <a:ext cx="5226525" cy="38416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75" name="Picture 3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57197" y="7554309"/>
              <a:ext cx="2008287" cy="5404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76" name="12 Rectángulo"/>
            <p:cNvSpPr/>
            <p:nvPr/>
          </p:nvSpPr>
          <p:spPr>
            <a:xfrm>
              <a:off x="24097903" y="8816827"/>
              <a:ext cx="1649720" cy="2420736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282"/>
            </a:p>
          </p:txBody>
        </p:sp>
      </p:grpSp>
      <p:pic>
        <p:nvPicPr>
          <p:cNvPr id="77" name="Picture 17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87702" y="14905112"/>
            <a:ext cx="3264676" cy="2155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7" name="1 Título"/>
          <p:cNvSpPr txBox="1">
            <a:spLocks/>
          </p:cNvSpPr>
          <p:nvPr/>
        </p:nvSpPr>
        <p:spPr>
          <a:xfrm>
            <a:off x="11702306" y="13494051"/>
            <a:ext cx="18146016" cy="1726378"/>
          </a:xfrm>
          <a:prstGeom prst="rect">
            <a:avLst/>
          </a:prstGeom>
        </p:spPr>
        <p:txBody>
          <a:bodyPr vert="horz" lIns="370351" tIns="185175" rIns="370351" bIns="185175" rtlCol="1" anchor="ctr">
            <a:noAutofit/>
          </a:bodyPr>
          <a:lstStyle>
            <a:lvl1pPr algn="ctr" defTabSz="4526280" rtl="1" eaLnBrk="1" latinLnBrk="0" hangingPunct="1">
              <a:spcBef>
                <a:spcPct val="0"/>
              </a:spcBef>
              <a:buNone/>
              <a:defRPr sz="2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50000"/>
              </a:lnSpc>
              <a:spcAft>
                <a:spcPts val="1200"/>
              </a:spcAft>
            </a:pPr>
            <a:r>
              <a:rPr lang="en-US" sz="3199" b="1" dirty="0">
                <a:solidFill>
                  <a:srgbClr val="0000FF"/>
                </a:solidFill>
                <a:latin typeface="Corbel" panose="020B0503020204020204" pitchFamily="34" charset="0"/>
                <a:cs typeface="Cordia New" panose="020B0304020202020204" pitchFamily="34" charset="-34"/>
              </a:rPr>
              <a:t>Similarly to </a:t>
            </a:r>
            <a:r>
              <a:rPr lang="en-US" sz="3199" b="1" i="1" dirty="0">
                <a:solidFill>
                  <a:srgbClr val="0000FF"/>
                </a:solidFill>
                <a:latin typeface="Corbel" panose="020B0503020204020204" pitchFamily="34" charset="0"/>
                <a:cs typeface="Cordia New" panose="020B0304020202020204" pitchFamily="34" charset="-34"/>
              </a:rPr>
              <a:t>Gls1</a:t>
            </a:r>
            <a:r>
              <a:rPr lang="en-US" sz="3199" b="1" dirty="0">
                <a:solidFill>
                  <a:srgbClr val="0000FF"/>
                </a:solidFill>
                <a:latin typeface="Corbel" panose="020B0503020204020204" pitchFamily="34" charset="0"/>
                <a:cs typeface="Cordia New" panose="020B0304020202020204" pitchFamily="34" charset="-34"/>
              </a:rPr>
              <a:t>+/- mice, </a:t>
            </a:r>
            <a:r>
              <a:rPr lang="en-US" sz="3199" b="1" dirty="0" err="1">
                <a:solidFill>
                  <a:srgbClr val="0000FF"/>
                </a:solidFill>
                <a:latin typeface="Corbel" panose="020B0503020204020204" pitchFamily="34" charset="0"/>
                <a:cs typeface="Cordia New" panose="020B0304020202020204" pitchFamily="34" charset="-34"/>
              </a:rPr>
              <a:t>Ebselen</a:t>
            </a:r>
            <a:r>
              <a:rPr lang="en-US" sz="3199" b="1" dirty="0">
                <a:solidFill>
                  <a:srgbClr val="0000FF"/>
                </a:solidFill>
                <a:latin typeface="Corbel" panose="020B0503020204020204" pitchFamily="34" charset="0"/>
                <a:cs typeface="Cordia New" panose="020B0304020202020204" pitchFamily="34" charset="-34"/>
              </a:rPr>
              <a:t>-treated mice show reduced </a:t>
            </a:r>
            <a:r>
              <a:rPr lang="en-US" sz="3199" b="1" i="1" dirty="0" smtClean="0">
                <a:solidFill>
                  <a:srgbClr val="0000FF"/>
                </a:solidFill>
                <a:latin typeface="Corbel" panose="020B0503020204020204" pitchFamily="34" charset="0"/>
                <a:cs typeface="Cordia New" panose="020B0304020202020204" pitchFamily="34" charset="-34"/>
              </a:rPr>
              <a:t>GLS1</a:t>
            </a:r>
            <a:r>
              <a:rPr lang="en-US" sz="3199" b="1" dirty="0" smtClean="0">
                <a:solidFill>
                  <a:srgbClr val="0000FF"/>
                </a:solidFill>
                <a:latin typeface="Corbel" panose="020B0503020204020204" pitchFamily="34" charset="0"/>
                <a:cs typeface="Cordia New" panose="020B0304020202020204" pitchFamily="34" charset="-34"/>
              </a:rPr>
              <a:t> </a:t>
            </a:r>
            <a:r>
              <a:rPr lang="en-US" sz="3199" b="1" dirty="0">
                <a:solidFill>
                  <a:srgbClr val="0000FF"/>
                </a:solidFill>
                <a:latin typeface="Corbel" panose="020B0503020204020204" pitchFamily="34" charset="0"/>
                <a:cs typeface="Cordia New" panose="020B0304020202020204" pitchFamily="34" charset="-34"/>
              </a:rPr>
              <a:t>expression in the hippocampus</a:t>
            </a:r>
            <a:endParaRPr lang="en-US" sz="3199" b="1" dirty="0">
              <a:latin typeface="Corbel" panose="020B0503020204020204" pitchFamily="34" charset="0"/>
              <a:cs typeface="Cordia New" panose="020B0304020202020204" pitchFamily="34" charset="-34"/>
            </a:endParaRPr>
          </a:p>
        </p:txBody>
      </p:sp>
      <p:pic>
        <p:nvPicPr>
          <p:cNvPr id="263" name="תמונה 26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173474" y="30939291"/>
            <a:ext cx="4954768" cy="4776133"/>
          </a:xfrm>
          <a:prstGeom prst="rect">
            <a:avLst/>
          </a:prstGeom>
        </p:spPr>
      </p:pic>
      <p:pic>
        <p:nvPicPr>
          <p:cNvPr id="267" name="תמונה 26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455836" y="6509416"/>
            <a:ext cx="8069969" cy="640474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</p:pic>
      <p:sp>
        <p:nvSpPr>
          <p:cNvPr id="101" name="TextBox 6"/>
          <p:cNvSpPr txBox="1"/>
          <p:nvPr/>
        </p:nvSpPr>
        <p:spPr>
          <a:xfrm>
            <a:off x="25483537" y="13021787"/>
            <a:ext cx="4936351" cy="3440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he-IL"/>
            </a:defPPr>
            <a:lvl1pPr marL="0" algn="r" defTabSz="4526280" rtl="1" eaLnBrk="1" latinLnBrk="0" hangingPunct="1">
              <a:defRPr sz="8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63140" algn="r" defTabSz="4526280" rtl="1" eaLnBrk="1" latinLnBrk="0" hangingPunct="1">
              <a:defRPr sz="8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26280" algn="r" defTabSz="4526280" rtl="1" eaLnBrk="1" latinLnBrk="0" hangingPunct="1">
              <a:defRPr sz="8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789420" algn="r" defTabSz="4526280" rtl="1" eaLnBrk="1" latinLnBrk="0" hangingPunct="1">
              <a:defRPr sz="8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52560" algn="r" defTabSz="4526280" rtl="1" eaLnBrk="1" latinLnBrk="0" hangingPunct="1">
              <a:defRPr sz="8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315700" algn="r" defTabSz="4526280" rtl="1" eaLnBrk="1" latinLnBrk="0" hangingPunct="1">
              <a:defRPr sz="8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578840" algn="r" defTabSz="4526280" rtl="1" eaLnBrk="1" latinLnBrk="0" hangingPunct="1">
              <a:defRPr sz="8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841980" algn="r" defTabSz="4526280" rtl="1" eaLnBrk="1" latinLnBrk="0" hangingPunct="1">
              <a:defRPr sz="8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105120" algn="r" defTabSz="4526280" rtl="1" eaLnBrk="1" latinLnBrk="0" hangingPunct="1">
              <a:defRPr sz="8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rtl="0"/>
            <a:r>
              <a:rPr lang="fr-FR" sz="1636" dirty="0" err="1">
                <a:latin typeface="Corbel" panose="020B0503020204020204" pitchFamily="34" charset="0"/>
              </a:rPr>
              <a:t>Adapted</a:t>
            </a:r>
            <a:r>
              <a:rPr lang="fr-FR" sz="1636" dirty="0">
                <a:latin typeface="Corbel" panose="020B0503020204020204" pitchFamily="34" charset="0"/>
              </a:rPr>
              <a:t> </a:t>
            </a:r>
            <a:r>
              <a:rPr lang="fr-FR" sz="1636" dirty="0" err="1">
                <a:latin typeface="Corbel" panose="020B0503020204020204" pitchFamily="34" charset="0"/>
              </a:rPr>
              <a:t>from</a:t>
            </a:r>
            <a:r>
              <a:rPr lang="fr-FR" sz="1636" dirty="0">
                <a:latin typeface="Corbel" panose="020B0503020204020204" pitchFamily="34" charset="0"/>
              </a:rPr>
              <a:t> </a:t>
            </a:r>
            <a:r>
              <a:rPr lang="fr-FR" sz="1636" dirty="0" err="1">
                <a:latin typeface="Corbel" panose="020B0503020204020204" pitchFamily="34" charset="0"/>
              </a:rPr>
              <a:t>Mingote</a:t>
            </a:r>
            <a:r>
              <a:rPr lang="fr-FR" sz="1636" dirty="0">
                <a:latin typeface="Corbel" panose="020B0503020204020204" pitchFamily="34" charset="0"/>
              </a:rPr>
              <a:t> et al. Front. </a:t>
            </a:r>
            <a:r>
              <a:rPr lang="fr-FR" sz="1636" dirty="0" err="1">
                <a:latin typeface="Corbel" panose="020B0503020204020204" pitchFamily="34" charset="0"/>
              </a:rPr>
              <a:t>Syst</a:t>
            </a:r>
            <a:r>
              <a:rPr lang="fr-FR" sz="1636" dirty="0">
                <a:latin typeface="Corbel" panose="020B0503020204020204" pitchFamily="34" charset="0"/>
              </a:rPr>
              <a:t>. </a:t>
            </a:r>
            <a:r>
              <a:rPr lang="fr-FR" sz="1636" dirty="0" err="1">
                <a:latin typeface="Corbel" panose="020B0503020204020204" pitchFamily="34" charset="0"/>
              </a:rPr>
              <a:t>Neurosci</a:t>
            </a:r>
            <a:r>
              <a:rPr lang="fr-FR" sz="1636" dirty="0">
                <a:latin typeface="Corbel" panose="020B0503020204020204" pitchFamily="34" charset="0"/>
              </a:rPr>
              <a:t> 2016</a:t>
            </a:r>
            <a:endParaRPr lang="en-US" sz="1636" dirty="0"/>
          </a:p>
        </p:txBody>
      </p:sp>
      <p:pic>
        <p:nvPicPr>
          <p:cNvPr id="271" name="תמונה 27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832134" y="7494729"/>
            <a:ext cx="9807276" cy="6227063"/>
          </a:xfrm>
          <a:prstGeom prst="rect">
            <a:avLst/>
          </a:prstGeom>
        </p:spPr>
      </p:pic>
      <p:pic>
        <p:nvPicPr>
          <p:cNvPr id="283" name="תמונה 28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7010" y="22516957"/>
            <a:ext cx="11697203" cy="4311271"/>
          </a:xfrm>
          <a:prstGeom prst="rect">
            <a:avLst/>
          </a:prstGeom>
        </p:spPr>
      </p:pic>
      <p:pic>
        <p:nvPicPr>
          <p:cNvPr id="282" name="תמונה 281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73447" y="25642331"/>
            <a:ext cx="5249264" cy="3702982"/>
          </a:xfrm>
          <a:prstGeom prst="rect">
            <a:avLst/>
          </a:prstGeom>
        </p:spPr>
      </p:pic>
      <p:sp>
        <p:nvSpPr>
          <p:cNvPr id="114" name="1 Título"/>
          <p:cNvSpPr txBox="1">
            <a:spLocks/>
          </p:cNvSpPr>
          <p:nvPr/>
        </p:nvSpPr>
        <p:spPr>
          <a:xfrm>
            <a:off x="23275854" y="29522736"/>
            <a:ext cx="8444676" cy="1606689"/>
          </a:xfrm>
          <a:prstGeom prst="rect">
            <a:avLst/>
          </a:prstGeom>
        </p:spPr>
        <p:txBody>
          <a:bodyPr vert="horz" lIns="452628" tIns="226314" rIns="452628" bIns="226314" rtlCol="1" anchor="ctr">
            <a:noAutofit/>
          </a:bodyPr>
          <a:lstStyle>
            <a:lvl1pPr algn="ctr" defTabSz="4526280" rtl="1" eaLnBrk="1" latinLnBrk="0" hangingPunct="1">
              <a:spcBef>
                <a:spcPct val="0"/>
              </a:spcBef>
              <a:buNone/>
              <a:defRPr sz="21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rtl="0">
              <a:lnSpc>
                <a:spcPct val="150000"/>
              </a:lnSpc>
            </a:pPr>
            <a:r>
              <a:rPr lang="en-US" sz="2200" b="1" dirty="0" err="1">
                <a:latin typeface="Corbel" panose="020B0503020204020204" pitchFamily="34" charset="0"/>
                <a:cs typeface="Cordia New" panose="020B0304020202020204" pitchFamily="34" charset="-34"/>
              </a:rPr>
              <a:t>Ebselen</a:t>
            </a:r>
            <a:r>
              <a:rPr lang="en-US" sz="2200" b="1" dirty="0">
                <a:latin typeface="Corbel" panose="020B0503020204020204" pitchFamily="34" charset="0"/>
                <a:cs typeface="Cordia New" panose="020B0304020202020204" pitchFamily="34" charset="-34"/>
              </a:rPr>
              <a:t> treatment </a:t>
            </a:r>
            <a:r>
              <a:rPr lang="en-US" sz="2200" b="1" dirty="0" smtClean="0">
                <a:latin typeface="Corbel" panose="020B0503020204020204" pitchFamily="34" charset="0"/>
                <a:cs typeface="Cordia New" panose="020B0304020202020204" pitchFamily="34" charset="-34"/>
              </a:rPr>
              <a:t>had no effect on the Expression of Dopamine receptors (D1R,D2R) in the frontal  cortex</a:t>
            </a:r>
            <a:endParaRPr lang="en-US" sz="2200" b="1" dirty="0">
              <a:latin typeface="Corbel" panose="020B0503020204020204" pitchFamily="34" charset="0"/>
              <a:cs typeface="Cordia New" panose="020B0304020202020204" pitchFamily="34" charset="-34"/>
            </a:endParaRPr>
          </a:p>
        </p:txBody>
      </p:sp>
      <p:pic>
        <p:nvPicPr>
          <p:cNvPr id="115" name="תמונה 114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5400666" y="31178920"/>
            <a:ext cx="1725370" cy="345074"/>
          </a:xfrm>
          <a:prstGeom prst="rect">
            <a:avLst/>
          </a:prstGeom>
        </p:spPr>
      </p:pic>
      <p:pic>
        <p:nvPicPr>
          <p:cNvPr id="116" name="תמונה 115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7003938" y="31188874"/>
            <a:ext cx="1977540" cy="325166"/>
          </a:xfrm>
          <a:prstGeom prst="rect">
            <a:avLst/>
          </a:prstGeom>
        </p:spPr>
      </p:pic>
      <p:pic>
        <p:nvPicPr>
          <p:cNvPr id="39" name="תמונה 38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3718530" y="6408168"/>
            <a:ext cx="6573645" cy="700471"/>
          </a:xfrm>
          <a:prstGeom prst="rect">
            <a:avLst/>
          </a:prstGeom>
        </p:spPr>
      </p:pic>
      <p:pic>
        <p:nvPicPr>
          <p:cNvPr id="40" name="תמונה 39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4938027" y="15132174"/>
            <a:ext cx="4829175" cy="781050"/>
          </a:xfrm>
          <a:prstGeom prst="rect">
            <a:avLst/>
          </a:prstGeom>
        </p:spPr>
      </p:pic>
      <p:pic>
        <p:nvPicPr>
          <p:cNvPr id="2" name="תמונה 1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990338" y="23682054"/>
            <a:ext cx="17378186" cy="5629021"/>
          </a:xfrm>
          <a:prstGeom prst="rect">
            <a:avLst/>
          </a:prstGeom>
        </p:spPr>
      </p:pic>
      <p:sp>
        <p:nvSpPr>
          <p:cNvPr id="8" name="מלבן 7"/>
          <p:cNvSpPr/>
          <p:nvPr/>
        </p:nvSpPr>
        <p:spPr>
          <a:xfrm>
            <a:off x="5293594" y="25778320"/>
            <a:ext cx="229117" cy="35669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0" name="TextBox 9"/>
          <p:cNvSpPr txBox="1"/>
          <p:nvPr/>
        </p:nvSpPr>
        <p:spPr>
          <a:xfrm>
            <a:off x="385922" y="25634304"/>
            <a:ext cx="2665496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1">
            <a:spAutoFit/>
          </a:bodyPr>
          <a:lstStyle/>
          <a:p>
            <a:pPr algn="ctr"/>
            <a:r>
              <a:rPr lang="en-US" sz="2800" dirty="0" smtClean="0">
                <a:latin typeface="Corbel" panose="020B0503020204020204" pitchFamily="34" charset="0"/>
              </a:rPr>
              <a:t>Open field</a:t>
            </a:r>
            <a:endParaRPr lang="he-IL" sz="2800" dirty="0">
              <a:latin typeface="Corbel" panose="020B0503020204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991338" y="23906112"/>
            <a:ext cx="578595" cy="96949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5700" dirty="0"/>
              <a:t>R</a:t>
            </a:r>
            <a:endParaRPr lang="he-IL" sz="5700" dirty="0"/>
          </a:p>
        </p:txBody>
      </p:sp>
      <p:sp>
        <p:nvSpPr>
          <p:cNvPr id="48" name="TextBox 47"/>
          <p:cNvSpPr txBox="1"/>
          <p:nvPr/>
        </p:nvSpPr>
        <p:spPr>
          <a:xfrm>
            <a:off x="26893463" y="23906112"/>
            <a:ext cx="578595" cy="96949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5700" dirty="0"/>
              <a:t>R</a:t>
            </a:r>
            <a:endParaRPr lang="he-IL" sz="5700" dirty="0"/>
          </a:p>
        </p:txBody>
      </p:sp>
    </p:spTree>
    <p:extLst>
      <p:ext uri="{BB962C8B-B14F-4D97-AF65-F5344CB8AC3E}">
        <p14:creationId xmlns:p14="http://schemas.microsoft.com/office/powerpoint/2010/main" val="310161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25424</TotalTime>
  <Words>288</Words>
  <Application>Microsoft Office PowerPoint</Application>
  <PresentationFormat>מותאם אישית</PresentationFormat>
  <Paragraphs>33</Paragraphs>
  <Slides>1</Slides>
  <Notes>1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6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</vt:i4>
      </vt:variant>
    </vt:vector>
  </HeadingPairs>
  <TitlesOfParts>
    <vt:vector size="8" baseType="lpstr">
      <vt:lpstr>Arial</vt:lpstr>
      <vt:lpstr>Calibri</vt:lpstr>
      <vt:lpstr>Corbel</vt:lpstr>
      <vt:lpstr>Cordia New</vt:lpstr>
      <vt:lpstr>Times New Roman</vt:lpstr>
      <vt:lpstr>Wingdings</vt:lpstr>
      <vt:lpstr>ערכת נושא Office</vt:lpstr>
      <vt:lpstr>Background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</dc:title>
  <dc:creator>Donna Linder</dc:creator>
  <cp:lastModifiedBy>amit</cp:lastModifiedBy>
  <cp:revision>504</cp:revision>
  <dcterms:created xsi:type="dcterms:W3CDTF">2014-11-10T09:40:09Z</dcterms:created>
  <dcterms:modified xsi:type="dcterms:W3CDTF">2018-03-02T16:48:06Z</dcterms:modified>
</cp:coreProperties>
</file>