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he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55666" autoAdjust="0"/>
  </p:normalViewPr>
  <p:slideViewPr>
    <p:cSldViewPr snapToGrid="0">
      <p:cViewPr varScale="1">
        <p:scale>
          <a:sx n="48" d="100"/>
          <a:sy n="48" d="100"/>
        </p:scale>
        <p:origin x="2002" y="48"/>
      </p:cViewPr>
      <p:guideLst/>
    </p:cSldViewPr>
  </p:slideViewPr>
  <p:notesTextViewPr>
    <p:cViewPr>
      <p:scale>
        <a:sx n="66" d="100"/>
        <a:sy n="66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B143FFA6-BB79-49C4-9103-614A6DB20A27}" type="datetimeFigureOut">
              <a:rPr lang="he-IL" smtClean="0"/>
              <a:t>ו'/ניסן/תשפ"ג</a:t>
            </a:fld>
            <a:endParaRPr lang="he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e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0398A9DE-635E-4AB0-AAFC-F94EFC74C2C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425187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98A9DE-635E-4AB0-AAFC-F94EFC74C2C9}" type="slidenum">
              <a:rPr lang="he-IL" smtClean="0"/>
              <a:t>1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464021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  <a:p>
            <a:r>
              <a:rPr lang="en-GB" dirty="0"/>
              <a:t>skill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98A9DE-635E-4AB0-AAFC-F94EFC74C2C9}" type="slidenum">
              <a:rPr lang="he-IL" smtClean="0"/>
              <a:t>2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389815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declerative_knowledge</a:t>
            </a:r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98A9DE-635E-4AB0-AAFC-F94EFC74C2C9}" type="slidenum">
              <a:rPr lang="he-IL" smtClean="0"/>
              <a:t>3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49479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98A9DE-635E-4AB0-AAFC-F94EFC74C2C9}" type="slidenum">
              <a:rPr lang="he-IL" smtClean="0"/>
              <a:t>4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245209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98A9DE-635E-4AB0-AAFC-F94EFC74C2C9}" type="slidenum">
              <a:rPr lang="he-IL" smtClean="0"/>
              <a:t>6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35357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6F23D-E971-440C-BCFD-74DCEE6CEC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B9A35A-553D-4C5D-9709-4886535BC6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488B6A-5F34-4679-A873-D4260706F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C40F9-4527-4F1D-A56B-EFCB2EB189C6}" type="datetimeFigureOut">
              <a:rPr lang="he-IL" smtClean="0"/>
              <a:t>ו'/ניסן/תשפ"ג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FDEB1C-DAB5-40C1-B01E-FFC25744B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95E32D-32CA-4C33-8D6F-C10D0128E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94A63-7AF0-4F2B-BEA9-9C74D78FCE9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569929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81D7B-7EA3-4A53-9B82-A9E3643D7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AFE6D5-139E-42FF-B534-6E501B3423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3DEF4C-70FA-46F3-A1B2-5B0551F55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C40F9-4527-4F1D-A56B-EFCB2EB189C6}" type="datetimeFigureOut">
              <a:rPr lang="he-IL" smtClean="0"/>
              <a:t>ו'/ניסן/תשפ"ג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9C64CD-A01F-4A2F-AB9D-5C3B85F44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6FE79-18CE-4DFA-A3FD-F5B3E7458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94A63-7AF0-4F2B-BEA9-9C74D78FCE9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52675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032AF-E3CD-436A-877E-9B82F38C3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E993D5-CD7C-4631-A37B-4CA067F125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D51F6E-2BA7-47EB-9082-4E85C5765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C40F9-4527-4F1D-A56B-EFCB2EB189C6}" type="datetimeFigureOut">
              <a:rPr lang="he-IL" smtClean="0"/>
              <a:t>ו'/ניסן/תשפ"ג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B5F58C-5252-425E-A885-4B7A7830C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BF1905-4424-4964-B47E-FBCE83DD2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94A63-7AF0-4F2B-BEA9-9C74D78FCE9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165585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6AFA5-51E4-422F-A087-3BCD0F5CA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FC0366-A95D-4346-B00F-D9775991D8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8CDE53-ABD0-4156-A421-C33A498EEA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23C875-F3AE-435A-AA85-BFA79062B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C40F9-4527-4F1D-A56B-EFCB2EB189C6}" type="datetimeFigureOut">
              <a:rPr lang="he-IL" smtClean="0"/>
              <a:t>ו'/ניסן/תשפ"ג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4CA66D-18C8-4E1B-AF11-7D8F0B08C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DFEDE4-86C5-4ADE-9550-FCBF2F3AC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94A63-7AF0-4F2B-BEA9-9C74D78FCE9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9614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46F38-5069-4729-8C3C-94B2024CB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54C576-B367-4E93-82A6-8A1EB1623E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12A413-5050-407F-895D-7A8C4F69EA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84980F-2615-4DFE-9064-755779744F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3AE49A-988A-4A6D-BD35-E9B2F2D0EA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5252B4-AE37-48C1-AC28-976A89C54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C40F9-4527-4F1D-A56B-EFCB2EB189C6}" type="datetimeFigureOut">
              <a:rPr lang="he-IL" smtClean="0"/>
              <a:t>ו'/ניסן/תשפ"ג</a:t>
            </a:fld>
            <a:endParaRPr lang="he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3E180D-236C-45A8-BFFB-B59B19787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9230BC-6F99-49AA-8F7A-0EE7999E4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94A63-7AF0-4F2B-BEA9-9C74D78FCE9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99252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2FD79-5954-430C-9A3A-A8276C489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81186D-C5B6-4154-8D8B-2ECAF37E9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C40F9-4527-4F1D-A56B-EFCB2EB189C6}" type="datetimeFigureOut">
              <a:rPr lang="he-IL" smtClean="0"/>
              <a:t>ו'/ניסן/תשפ"ג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45052C-04E4-468A-AE00-3776E6916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E131F4-F924-4DF7-80E3-AFEC385B2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94A63-7AF0-4F2B-BEA9-9C74D78FCE9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31426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B5254E-D016-4B42-A1CB-07A507C08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C40F9-4527-4F1D-A56B-EFCB2EB189C6}" type="datetimeFigureOut">
              <a:rPr lang="he-IL" smtClean="0"/>
              <a:t>ו'/ניסן/תשפ"ג</a:t>
            </a:fld>
            <a:endParaRPr lang="he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10E22B-E7D1-49A5-9A13-B56259894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E8F8E8-374D-4AC5-97DE-823D75CEC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94A63-7AF0-4F2B-BEA9-9C74D78FCE9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69322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33E20-B145-4306-B9EA-976F7AB9B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6C671-CCB6-4B3C-87DA-1085E93A5A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BA50CD-4460-4262-8B7F-BD3EEF5717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F2FE68-1A00-459F-B5D2-3CE177B57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C40F9-4527-4F1D-A56B-EFCB2EB189C6}" type="datetimeFigureOut">
              <a:rPr lang="he-IL" smtClean="0"/>
              <a:t>ו'/ניסן/תשפ"ג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158856-914E-479B-909E-57F71E4EE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FEB9CC-329A-4F42-9F9F-DACBCCB9A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94A63-7AF0-4F2B-BEA9-9C74D78FCE9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521921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A94F7-BDDA-4AD3-9D3C-D86CE9ADE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4C02DA-8435-4413-BD29-D4F18AE176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A9AFE6-0B06-48FB-A0FD-0201D3DFD0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1347C1-45AB-47D9-93DB-8F8F5EB94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C40F9-4527-4F1D-A56B-EFCB2EB189C6}" type="datetimeFigureOut">
              <a:rPr lang="he-IL" smtClean="0"/>
              <a:t>ו'/ניסן/תשפ"ג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E72D2B-DF71-4291-8F09-131F1A5D1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14B4AC-A722-4513-9739-1F6306639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94A63-7AF0-4F2B-BEA9-9C74D78FCE9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08530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4D8AA-1B52-4CE4-A469-941339AD2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FB88EC-F88D-4933-B41C-3F35EC77D4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8FF903-3410-43A6-9EB5-E535331EC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C40F9-4527-4F1D-A56B-EFCB2EB189C6}" type="datetimeFigureOut">
              <a:rPr lang="he-IL" smtClean="0"/>
              <a:t>ו'/ניסן/תשפ"ג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044423-3415-40D3-8A89-8DC515733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F9D12D-FA1D-4932-8495-2044A47CB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94A63-7AF0-4F2B-BEA9-9C74D78FCE9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16562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37A955-3821-4003-B6C9-018D80F6BF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AFC308-E991-4B87-AFE2-053350DC5C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590F24-0EFB-4E7A-95E4-F41EC41EE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C40F9-4527-4F1D-A56B-EFCB2EB189C6}" type="datetimeFigureOut">
              <a:rPr lang="he-IL" smtClean="0"/>
              <a:t>ו'/ניסן/תשפ"ג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67E07A-219D-4417-BF44-13216C89A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D5FB96-1EA0-4C77-AB71-C020213D4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94A63-7AF0-4F2B-BEA9-9C74D78FCE9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0960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02F3FD-0CFD-414F-B4B5-19096E13E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C58DAC-E5DB-494B-B645-ECAA9918F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3EFA6C-6619-4057-BAEC-470A1FD534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DC40F9-4527-4F1D-A56B-EFCB2EB189C6}" type="datetimeFigureOut">
              <a:rPr lang="he-IL" smtClean="0"/>
              <a:t>ו'/ניסן/תשפ"ג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6B6EE7-4F21-439E-9151-99F8441571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7823F7-2DF9-4FD1-B29D-D637DCACE3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F94A63-7AF0-4F2B-BEA9-9C74D78FCE9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23573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2BE3CA6-713E-4571-87DD-2DB4B33FC8E5}"/>
              </a:ext>
            </a:extLst>
          </p:cNvPr>
          <p:cNvSpPr txBox="1"/>
          <p:nvPr/>
        </p:nvSpPr>
        <p:spPr>
          <a:xfrm>
            <a:off x="4322245" y="321520"/>
            <a:ext cx="2405848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/>
              <a:t>אוריינות לפני אחרי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809E90-38C8-4877-9901-BF52564BA410}"/>
              </a:ext>
            </a:extLst>
          </p:cNvPr>
          <p:cNvSpPr txBox="1"/>
          <p:nvPr/>
        </p:nvSpPr>
        <p:spPr>
          <a:xfrm>
            <a:off x="6728093" y="4772970"/>
            <a:ext cx="5777327" cy="120032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GB" sz="1200" dirty="0"/>
              <a:t>There is a significant difference (Wilcoxon signed-rank test, W= 2775, p-value&lt;0.001)</a:t>
            </a:r>
          </a:p>
          <a:p>
            <a:endParaRPr lang="en-US" sz="1200" dirty="0"/>
          </a:p>
          <a:p>
            <a:r>
              <a:rPr lang="en-US" sz="1200" dirty="0"/>
              <a:t>N=170</a:t>
            </a:r>
          </a:p>
          <a:p>
            <a:r>
              <a:rPr lang="en-GB" sz="1200" dirty="0"/>
              <a:t>Before: Mean: 63.5612, Std Dev: 16.0103,Median: 64.8649</a:t>
            </a:r>
          </a:p>
          <a:p>
            <a:r>
              <a:rPr lang="en-GB" sz="1200" dirty="0"/>
              <a:t>After: Mean: 72.9244, Std Dev: 15.5694,Median: 77.1429</a:t>
            </a:r>
            <a:endParaRPr lang="he-IL" sz="1200" dirty="0"/>
          </a:p>
          <a:p>
            <a:endParaRPr lang="he-IL" sz="12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D581681-2E8E-4600-9EE1-F16F1870B3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568" y="1109807"/>
            <a:ext cx="4444444" cy="4863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1167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1764955-A37A-4B72-921D-82301DD9B4AE}"/>
              </a:ext>
            </a:extLst>
          </p:cNvPr>
          <p:cNvSpPr txBox="1"/>
          <p:nvPr/>
        </p:nvSpPr>
        <p:spPr>
          <a:xfrm>
            <a:off x="2805343" y="80211"/>
            <a:ext cx="2405848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/>
              <a:t>ומיומנות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A10662-EE37-4266-BE0A-D61584C2368B}"/>
              </a:ext>
            </a:extLst>
          </p:cNvPr>
          <p:cNvSpPr txBox="1"/>
          <p:nvPr/>
        </p:nvSpPr>
        <p:spPr>
          <a:xfrm>
            <a:off x="9386657" y="116109"/>
            <a:ext cx="2310063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/>
              <a:t>ידע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198548-13FD-4F24-AAF7-6CF17A6C8D84}"/>
              </a:ext>
            </a:extLst>
          </p:cNvPr>
          <p:cNvSpPr txBox="1"/>
          <p:nvPr/>
        </p:nvSpPr>
        <p:spPr>
          <a:xfrm>
            <a:off x="6497993" y="5467298"/>
            <a:ext cx="5777327" cy="120032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GB" sz="1200" dirty="0"/>
              <a:t>There is a significant difference (Wilcoxon signed-rank test, W= 1777, p-value&lt;0.001)</a:t>
            </a:r>
          </a:p>
          <a:p>
            <a:pPr algn="ctr"/>
            <a:endParaRPr lang="en-US" sz="1200" dirty="0"/>
          </a:p>
          <a:p>
            <a:pPr algn="ctr"/>
            <a:r>
              <a:rPr lang="en-US" sz="1200" dirty="0"/>
              <a:t>N=170</a:t>
            </a:r>
          </a:p>
          <a:p>
            <a:pPr algn="ctr"/>
            <a:r>
              <a:rPr lang="en-GB" sz="1200" dirty="0"/>
              <a:t>Before: Mean: 61.61, Std Dev: 23.2,Median: 66.6</a:t>
            </a:r>
          </a:p>
          <a:p>
            <a:pPr algn="ctr"/>
            <a:r>
              <a:rPr lang="en-GB" sz="1200" dirty="0"/>
              <a:t>After: Mean: 77.63, Std Dev: 19.1,Median: 80</a:t>
            </a:r>
          </a:p>
          <a:p>
            <a:pPr algn="ctr"/>
            <a:endParaRPr lang="he-IL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DA6620-D3AF-48BD-93C3-9ED911200012}"/>
              </a:ext>
            </a:extLst>
          </p:cNvPr>
          <p:cNvSpPr txBox="1"/>
          <p:nvPr/>
        </p:nvSpPr>
        <p:spPr>
          <a:xfrm>
            <a:off x="380981" y="5467297"/>
            <a:ext cx="5777327" cy="120032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GB" sz="1200" dirty="0"/>
              <a:t>There is a significant difference (Wilcoxon signed-rank test, W= 5356, p-value&lt;0.005)</a:t>
            </a:r>
          </a:p>
          <a:p>
            <a:pPr algn="ctr"/>
            <a:endParaRPr lang="en-US" sz="1200" dirty="0"/>
          </a:p>
          <a:p>
            <a:pPr algn="ctr"/>
            <a:r>
              <a:rPr lang="en-US" sz="1200" dirty="0"/>
              <a:t>N=170</a:t>
            </a:r>
          </a:p>
          <a:p>
            <a:pPr algn="ctr"/>
            <a:r>
              <a:rPr lang="en-GB" sz="1200" dirty="0"/>
              <a:t>Before: Mean: 66.6, Std Dev: 14.3 ,Median:68</a:t>
            </a:r>
          </a:p>
          <a:p>
            <a:pPr algn="ctr"/>
            <a:r>
              <a:rPr lang="en-GB" sz="1200" dirty="0"/>
              <a:t>After: Mean: 70, Std Dev: 15.8 ,Median: 75</a:t>
            </a:r>
          </a:p>
          <a:p>
            <a:pPr algn="ctr"/>
            <a:endParaRPr lang="he-IL" sz="12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68E4A46-4C1C-408F-928C-69349978A3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1678" y="603805"/>
            <a:ext cx="4444444" cy="486349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4EE2B5C-1DAE-4871-9A91-BE84C05FB2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121" y="526674"/>
            <a:ext cx="4444444" cy="4863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2315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F4C0C23-926C-4952-BDC3-0D0CC9216B35}"/>
              </a:ext>
            </a:extLst>
          </p:cNvPr>
          <p:cNvSpPr txBox="1"/>
          <p:nvPr/>
        </p:nvSpPr>
        <p:spPr>
          <a:xfrm>
            <a:off x="2087488" y="24407"/>
            <a:ext cx="2405848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 err="1"/>
              <a:t>ודיע</a:t>
            </a:r>
            <a:r>
              <a:rPr lang="he-IL" dirty="0"/>
              <a:t> תוכן לפני ואחרי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05ED58-D2BB-4B53-AC43-453AADACD9B6}"/>
              </a:ext>
            </a:extLst>
          </p:cNvPr>
          <p:cNvSpPr txBox="1"/>
          <p:nvPr/>
        </p:nvSpPr>
        <p:spPr>
          <a:xfrm>
            <a:off x="9208168" y="1123109"/>
            <a:ext cx="1395664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/>
              <a:t>ידע הצהרתי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6686A7-B071-406C-AEAE-26BD2A71E154}"/>
              </a:ext>
            </a:extLst>
          </p:cNvPr>
          <p:cNvSpPr txBox="1"/>
          <p:nvPr/>
        </p:nvSpPr>
        <p:spPr>
          <a:xfrm>
            <a:off x="6319504" y="5611593"/>
            <a:ext cx="5777327" cy="120032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GB" sz="1200" dirty="0"/>
              <a:t>There is a significant difference (Wilcoxon signed-rank test, W= 1875.5, p-value&lt;0.001)</a:t>
            </a:r>
          </a:p>
          <a:p>
            <a:pPr algn="ctr"/>
            <a:endParaRPr lang="en-US" sz="1200" dirty="0"/>
          </a:p>
          <a:p>
            <a:pPr algn="ctr"/>
            <a:r>
              <a:rPr lang="en-US" sz="1200" dirty="0"/>
              <a:t>N=170</a:t>
            </a:r>
          </a:p>
          <a:p>
            <a:pPr algn="ctr"/>
            <a:r>
              <a:rPr lang="en-GB" sz="1200" dirty="0"/>
              <a:t>Before: Mean: 59.9, Std Dev: 30 ,Median:62.5</a:t>
            </a:r>
          </a:p>
          <a:p>
            <a:pPr algn="ctr"/>
            <a:r>
              <a:rPr lang="en-GB" sz="1200" dirty="0"/>
              <a:t>After: Mean: 74.2, Std Dev: 26.4 ,Median: 87.5</a:t>
            </a:r>
          </a:p>
          <a:p>
            <a:pPr algn="ctr"/>
            <a:endParaRPr lang="he-IL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539163F-AC5F-460B-86F7-ECC53D5AC9E4}"/>
              </a:ext>
            </a:extLst>
          </p:cNvPr>
          <p:cNvSpPr txBox="1"/>
          <p:nvPr/>
        </p:nvSpPr>
        <p:spPr>
          <a:xfrm>
            <a:off x="318673" y="5509734"/>
            <a:ext cx="5777327" cy="120032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GB" sz="1200" dirty="0"/>
              <a:t>There is a significant difference (Wilcoxon signed-rank test, W= 1875.5, p-value&lt;0.001)</a:t>
            </a:r>
          </a:p>
          <a:p>
            <a:pPr algn="ctr"/>
            <a:endParaRPr lang="en-US" sz="1200" dirty="0"/>
          </a:p>
          <a:p>
            <a:pPr algn="ctr"/>
            <a:r>
              <a:rPr lang="en-US" sz="1200" dirty="0"/>
              <a:t>N=170</a:t>
            </a:r>
          </a:p>
          <a:p>
            <a:pPr algn="ctr"/>
            <a:r>
              <a:rPr lang="en-GB" sz="1200" dirty="0"/>
              <a:t>Before: Mean: 63, Std Dev: 23.7 ,Median:71.4</a:t>
            </a:r>
          </a:p>
          <a:p>
            <a:pPr algn="ctr"/>
            <a:r>
              <a:rPr lang="en-GB" sz="1200" dirty="0"/>
              <a:t>After: Mean: 81.3, Std Dev: 16.8 ,Median: 85.7</a:t>
            </a:r>
          </a:p>
          <a:p>
            <a:pPr algn="ctr"/>
            <a:endParaRPr lang="he-IL" sz="12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B8B1CCD-F384-49C6-92C5-2329BAB22F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4496" y="519990"/>
            <a:ext cx="4444444" cy="486349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5ABC69B-0430-4EC8-9AFA-D751F80D70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169" y="748101"/>
            <a:ext cx="4444444" cy="4863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4150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7577AE-1F2C-4914-8A89-A0950EB55853}"/>
              </a:ext>
            </a:extLst>
          </p:cNvPr>
          <p:cNvSpPr txBox="1"/>
          <p:nvPr/>
        </p:nvSpPr>
        <p:spPr>
          <a:xfrm>
            <a:off x="2338475" y="291257"/>
            <a:ext cx="2405848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/>
              <a:t>וחשיבה מרחבית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7A323C-C1F7-4E4B-A1A7-784E10D28C0E}"/>
              </a:ext>
            </a:extLst>
          </p:cNvPr>
          <p:cNvSpPr/>
          <p:nvPr/>
        </p:nvSpPr>
        <p:spPr>
          <a:xfrm>
            <a:off x="8530727" y="291257"/>
            <a:ext cx="13227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e-IL" dirty="0"/>
              <a:t>ידע הצהרתי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4A02D5-9590-4FD6-AA64-962E4FE06190}"/>
              </a:ext>
            </a:extLst>
          </p:cNvPr>
          <p:cNvSpPr txBox="1"/>
          <p:nvPr/>
        </p:nvSpPr>
        <p:spPr>
          <a:xfrm>
            <a:off x="-124825" y="5187756"/>
            <a:ext cx="3481211" cy="101566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1000" dirty="0"/>
              <a:t>לפני</a:t>
            </a:r>
            <a:endParaRPr lang="en-GB" sz="1000" dirty="0"/>
          </a:p>
          <a:p>
            <a:pPr algn="ctr"/>
            <a:r>
              <a:rPr lang="en-GB" sz="1000" dirty="0"/>
              <a:t>Mann-Whitney U test:</a:t>
            </a:r>
          </a:p>
          <a:p>
            <a:pPr algn="ctr"/>
            <a:r>
              <a:rPr lang="en-GB" sz="1000" dirty="0"/>
              <a:t>Statistic: U= 3959, p-value: 0.033</a:t>
            </a:r>
          </a:p>
          <a:p>
            <a:pPr algn="ctr"/>
            <a:r>
              <a:rPr lang="en-GB" sz="1000" dirty="0"/>
              <a:t>There is a significant difference</a:t>
            </a:r>
          </a:p>
          <a:p>
            <a:pPr algn="ctr"/>
            <a:r>
              <a:rPr lang="en-US" sz="1000" dirty="0"/>
              <a:t>Male: Length: 103 Mean: 66.8, Std Dev: 16, Median: 70</a:t>
            </a:r>
          </a:p>
          <a:p>
            <a:pPr algn="ctr"/>
            <a:r>
              <a:rPr lang="en-GB" sz="1000" dirty="0"/>
              <a:t>Female:  Length: 66,mean: </a:t>
            </a:r>
            <a:r>
              <a:rPr lang="nn-NO" sz="1000" dirty="0"/>
              <a:t>63. 1, Std Dev: 16.19, Median: 60</a:t>
            </a:r>
            <a:endParaRPr lang="he-IL" sz="10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F4BF6C4-6B6B-4818-970A-F86DD408B11F}"/>
              </a:ext>
            </a:extLst>
          </p:cNvPr>
          <p:cNvSpPr/>
          <p:nvPr/>
        </p:nvSpPr>
        <p:spPr>
          <a:xfrm>
            <a:off x="1855162" y="5027438"/>
            <a:ext cx="6096000" cy="106182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endParaRPr lang="he-IL" sz="900" dirty="0"/>
          </a:p>
          <a:p>
            <a:pPr algn="ctr"/>
            <a:r>
              <a:rPr lang="he-IL" sz="900" dirty="0"/>
              <a:t>אחרי </a:t>
            </a:r>
          </a:p>
          <a:p>
            <a:pPr algn="ctr"/>
            <a:r>
              <a:rPr lang="en-GB" sz="900" dirty="0"/>
              <a:t>Mann-Whitney U test:</a:t>
            </a:r>
          </a:p>
          <a:p>
            <a:pPr algn="ctr"/>
            <a:r>
              <a:rPr lang="en-GB" sz="900" dirty="0"/>
              <a:t>Statistic: U=3565, p-value: 0.5870</a:t>
            </a:r>
          </a:p>
          <a:p>
            <a:pPr algn="ctr"/>
            <a:r>
              <a:rPr lang="en-GB" sz="900" dirty="0"/>
              <a:t>There is no significant difference</a:t>
            </a:r>
          </a:p>
          <a:p>
            <a:pPr algn="ctr"/>
            <a:r>
              <a:rPr lang="en-GB" sz="900" dirty="0"/>
              <a:t>Male: Length: 103 , </a:t>
            </a:r>
            <a:r>
              <a:rPr lang="nn-NO" sz="900" dirty="0"/>
              <a:t>71.7, Std Dev: 21, Median: 77.7</a:t>
            </a:r>
            <a:endParaRPr lang="en-GB" sz="900" dirty="0"/>
          </a:p>
          <a:p>
            <a:pPr algn="ctr"/>
            <a:r>
              <a:rPr lang="en-GB" sz="900" dirty="0"/>
              <a:t>Female: Length: 66,mean: </a:t>
            </a:r>
            <a:r>
              <a:rPr lang="nn-NO" sz="900" dirty="0"/>
              <a:t>71.7, Std Dev: 17.4, Median: 77.7</a:t>
            </a:r>
            <a:endParaRPr lang="he-IL" sz="9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459152F-F7DD-4F84-BF2D-ACA772B85FC9}"/>
              </a:ext>
            </a:extLst>
          </p:cNvPr>
          <p:cNvSpPr txBox="1"/>
          <p:nvPr/>
        </p:nvSpPr>
        <p:spPr>
          <a:xfrm>
            <a:off x="9192126" y="5130679"/>
            <a:ext cx="3481211" cy="101566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1000" dirty="0"/>
              <a:t>אחרי</a:t>
            </a:r>
            <a:endParaRPr lang="en-GB" sz="1000" dirty="0"/>
          </a:p>
          <a:p>
            <a:pPr algn="ctr"/>
            <a:r>
              <a:rPr lang="en-GB" sz="1000" dirty="0"/>
              <a:t>Mann-Whitney U test:</a:t>
            </a:r>
          </a:p>
          <a:p>
            <a:pPr algn="ctr"/>
            <a:r>
              <a:rPr lang="en-GB" sz="1000" dirty="0"/>
              <a:t>Statistic: U= </a:t>
            </a:r>
            <a:r>
              <a:rPr lang="he-IL" sz="1000" dirty="0"/>
              <a:t>3243</a:t>
            </a:r>
            <a:r>
              <a:rPr lang="en-GB" sz="1000" dirty="0"/>
              <a:t>, p-value: </a:t>
            </a:r>
            <a:r>
              <a:rPr lang="he-IL" sz="1000" dirty="0"/>
              <a:t>0.58</a:t>
            </a:r>
            <a:endParaRPr lang="en-GB" sz="1000" dirty="0"/>
          </a:p>
          <a:p>
            <a:pPr algn="ctr"/>
            <a:r>
              <a:rPr lang="en-GB" sz="1000" dirty="0"/>
              <a:t>There is no significant difference</a:t>
            </a:r>
          </a:p>
          <a:p>
            <a:pPr algn="ctr"/>
            <a:r>
              <a:rPr lang="en-US" sz="1000" dirty="0"/>
              <a:t>Male: Length: 95 Mean: 74.6, Std Dev: 27.9, Median: 87.5</a:t>
            </a:r>
          </a:p>
          <a:p>
            <a:pPr algn="ctr"/>
            <a:r>
              <a:rPr lang="en-GB" sz="1000" dirty="0"/>
              <a:t>Female:  Length: 65,mean: 73.6</a:t>
            </a:r>
            <a:r>
              <a:rPr lang="nn-NO" sz="1000" dirty="0"/>
              <a:t>, Std Dev: 24.3, Median: 87.5</a:t>
            </a:r>
            <a:endParaRPr lang="he-IL" sz="1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E52FA90-BEB6-4C52-8A26-E41CF5C9E5F9}"/>
              </a:ext>
            </a:extLst>
          </p:cNvPr>
          <p:cNvSpPr txBox="1"/>
          <p:nvPr/>
        </p:nvSpPr>
        <p:spPr>
          <a:xfrm>
            <a:off x="6210556" y="5130680"/>
            <a:ext cx="3481211" cy="101566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1000" dirty="0"/>
              <a:t>לפני</a:t>
            </a:r>
            <a:endParaRPr lang="en-GB" sz="1000" dirty="0"/>
          </a:p>
          <a:p>
            <a:pPr algn="ctr"/>
            <a:r>
              <a:rPr lang="en-GB" sz="1000" dirty="0"/>
              <a:t>Mann-Whitney U test:</a:t>
            </a:r>
          </a:p>
          <a:p>
            <a:pPr algn="ctr"/>
            <a:r>
              <a:rPr lang="en-GB" sz="1000" dirty="0"/>
              <a:t>Statistic: U= </a:t>
            </a:r>
            <a:r>
              <a:rPr lang="he-IL" sz="1000" dirty="0"/>
              <a:t>3557</a:t>
            </a:r>
            <a:r>
              <a:rPr lang="en-GB" sz="1000" dirty="0"/>
              <a:t>, p-value: </a:t>
            </a:r>
            <a:r>
              <a:rPr lang="he-IL" sz="1000" dirty="0"/>
              <a:t>0.047</a:t>
            </a:r>
            <a:endParaRPr lang="en-GB" sz="1000" dirty="0"/>
          </a:p>
          <a:p>
            <a:pPr algn="ctr"/>
            <a:r>
              <a:rPr lang="en-GB" sz="1000" dirty="0"/>
              <a:t>There is a significant difference</a:t>
            </a:r>
          </a:p>
          <a:p>
            <a:pPr algn="ctr"/>
            <a:r>
              <a:rPr lang="en-US" sz="1000" dirty="0"/>
              <a:t>Male: Length: 95 Mean: 62.89, Std Dev:31.3 , Median: 75</a:t>
            </a:r>
          </a:p>
          <a:p>
            <a:pPr algn="ctr"/>
            <a:r>
              <a:rPr lang="en-GB" sz="1000" dirty="0"/>
              <a:t>Female:  Length: 65,mean: 55.5</a:t>
            </a:r>
            <a:r>
              <a:rPr lang="nn-NO" sz="1000" dirty="0"/>
              <a:t>, Std Dev: 29.3, Median: 62.5</a:t>
            </a:r>
            <a:endParaRPr lang="he-IL" sz="10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C599688-C01F-4D54-8D4D-7F7F79FF6D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5214" y="1216277"/>
            <a:ext cx="4533824" cy="335871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CD2E495-46CC-4EB5-A9AC-5B240AA35F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962" y="1216276"/>
            <a:ext cx="4533824" cy="3358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4303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746DA35-79E7-48A4-9BF5-1C01F5517038}"/>
              </a:ext>
            </a:extLst>
          </p:cNvPr>
          <p:cNvSpPr txBox="1"/>
          <p:nvPr/>
        </p:nvSpPr>
        <p:spPr>
          <a:xfrm>
            <a:off x="767608" y="1092461"/>
            <a:ext cx="2232266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/>
              <a:t>, מוכנות </a:t>
            </a:r>
            <a:r>
              <a:rPr lang="he-IL" dirty="0" err="1"/>
              <a:t>להמליץץץ</a:t>
            </a:r>
            <a:endParaRPr lang="he-IL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7936FD-DF74-43ED-B3BF-668C58752554}"/>
              </a:ext>
            </a:extLst>
          </p:cNvPr>
          <p:cNvSpPr txBox="1"/>
          <p:nvPr/>
        </p:nvSpPr>
        <p:spPr>
          <a:xfrm>
            <a:off x="6835807" y="2211397"/>
            <a:ext cx="328473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R</a:t>
            </a:r>
            <a:endParaRPr lang="he-IL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58D04C-E548-4A0F-8514-B30D0A35692D}"/>
              </a:ext>
            </a:extLst>
          </p:cNvPr>
          <p:cNvSpPr txBox="1"/>
          <p:nvPr/>
        </p:nvSpPr>
        <p:spPr>
          <a:xfrm>
            <a:off x="5097263" y="2222948"/>
            <a:ext cx="328473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S</a:t>
            </a:r>
            <a:endParaRPr lang="he-IL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C94178-E679-4154-BDBA-1FDB67C38EFE}"/>
              </a:ext>
            </a:extLst>
          </p:cNvPr>
          <p:cNvSpPr txBox="1"/>
          <p:nvPr/>
        </p:nvSpPr>
        <p:spPr>
          <a:xfrm>
            <a:off x="3787067" y="2222948"/>
            <a:ext cx="328473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T</a:t>
            </a:r>
            <a:endParaRPr lang="he-IL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BC835F-F12E-4643-A680-3318A07DF523}"/>
              </a:ext>
            </a:extLst>
          </p:cNvPr>
          <p:cNvSpPr txBox="1"/>
          <p:nvPr/>
        </p:nvSpPr>
        <p:spPr>
          <a:xfrm>
            <a:off x="8850430" y="1089616"/>
            <a:ext cx="401738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/>
              <a:t>שביעות רצון </a:t>
            </a:r>
            <a:r>
              <a:rPr lang="he-IL" dirty="0" err="1"/>
              <a:t>מהשתתפ</a:t>
            </a:r>
            <a:r>
              <a:rPr lang="he-IL" dirty="0"/>
              <a:t>]</a:t>
            </a:r>
            <a:r>
              <a:rPr lang="he-IL" dirty="0" err="1"/>
              <a:t>ות</a:t>
            </a:r>
            <a:r>
              <a:rPr lang="he-IL" dirty="0"/>
              <a:t>,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8C9CCA-1A04-4680-B4BA-AC11EDF232EF}"/>
              </a:ext>
            </a:extLst>
          </p:cNvPr>
          <p:cNvSpPr txBox="1"/>
          <p:nvPr/>
        </p:nvSpPr>
        <p:spPr>
          <a:xfrm>
            <a:off x="5309234" y="1091662"/>
            <a:ext cx="1574308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/>
              <a:t>תרומת התכנית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5B72BE1-E1E7-4F91-9CB8-3974E1E2CF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1476" y="2336388"/>
            <a:ext cx="3371543" cy="242193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D436342-C12F-4D38-A95E-4EBA9B8647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6995" y="2144973"/>
            <a:ext cx="3638009" cy="261335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07F4F9F-1317-417B-8F09-C62B92C055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102" y="1961148"/>
            <a:ext cx="3893909" cy="279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801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3655811-CBAE-4182-8ED3-FA315E47AA0B}"/>
              </a:ext>
            </a:extLst>
          </p:cNvPr>
          <p:cNvSpPr txBox="1"/>
          <p:nvPr/>
        </p:nvSpPr>
        <p:spPr>
          <a:xfrm>
            <a:off x="12512842" y="1478977"/>
            <a:ext cx="5085348" cy="230832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GB" dirty="0"/>
              <a:t>"A chi-square test was performed to compare the 'before' and 'after' values of the 'variable' column. The test revealed a statistically significant difference between the two sets of values (χ2 = 86.94, p &lt; 0.001, df = 2). Therefore, we reject the null hypothesis that the two sets of values are independent and conclude that there is a significant association between them."</a:t>
            </a:r>
            <a:endParaRPr lang="he-IL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52DE119-B49E-4918-980F-20D51481F6A1}"/>
              </a:ext>
            </a:extLst>
          </p:cNvPr>
          <p:cNvSpPr/>
          <p:nvPr/>
        </p:nvSpPr>
        <p:spPr>
          <a:xfrm>
            <a:off x="6625462" y="228418"/>
            <a:ext cx="48766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e-IL" dirty="0"/>
              <a:t>חשיבה כמדען, כגאוגרף - בהקשר לתכנון אזור מונגש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23D6F7F-857C-42BC-A023-CC5179199F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8235" y="1651222"/>
            <a:ext cx="6755555" cy="3555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2938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566</TotalTime>
  <Words>582</Words>
  <Application>Microsoft Office PowerPoint</Application>
  <PresentationFormat>Widescreen</PresentationFormat>
  <Paragraphs>74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41</cp:revision>
  <dcterms:created xsi:type="dcterms:W3CDTF">2023-03-26T01:44:07Z</dcterms:created>
  <dcterms:modified xsi:type="dcterms:W3CDTF">2023-03-28T18:56:22Z</dcterms:modified>
</cp:coreProperties>
</file>